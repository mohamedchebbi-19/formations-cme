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18288000" cy="10287000"/>
  <p:notesSz cx="6858000" cy="9144000"/>
  <p:embeddedFontLst>
    <p:embeddedFont>
      <p:font typeface="Extenda 40 Hecto" panose="020B0604020202020204" charset="0"/>
      <p:regular r:id="rId47"/>
    </p:embeddedFont>
    <p:embeddedFont>
      <p:font typeface="Heading Now 11-18 Bold" panose="020B0604020202020204" charset="0"/>
      <p:regular r:id="rId48"/>
    </p:embeddedFont>
    <p:embeddedFont>
      <p:font typeface="Arial" panose="020B0604020202020204" pitchFamily="34" charset="0"/>
      <p:regular r:id="rId49"/>
    </p:embeddedFont>
    <p:embeddedFont>
      <p:font typeface="Press Start 2P" panose="020B0604020202020204" charset="0"/>
      <p:regular r:id="rId50"/>
    </p:embeddedFont>
    <p:embeddedFont>
      <p:font typeface="Arial Bold Italics" panose="020B0604020202020204" charset="0"/>
      <p:regular r:id="rId51"/>
    </p:embeddedFont>
    <p:embeddedFont>
      <p:font typeface="Calibri" panose="020F0502020204030204" pitchFamily="34" charset="0"/>
      <p:regular r:id="rId52"/>
      <p:bold r:id="rId53"/>
      <p:italic r:id="rId54"/>
      <p:boldItalic r:id="rId5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3" d="100"/>
          <a:sy n="63" d="100"/>
        </p:scale>
        <p:origin x="283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1.fntdata"/><Relationship Id="rId50" Type="http://schemas.openxmlformats.org/officeDocument/2006/relationships/font" Target="fonts/font4.fntdata"/><Relationship Id="rId55" Type="http://schemas.openxmlformats.org/officeDocument/2006/relationships/font" Target="fonts/font9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7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2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5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3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sv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jpeg"/><Relationship Id="rId4" Type="http://schemas.openxmlformats.org/officeDocument/2006/relationships/image" Target="../media/image16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sv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sv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svg"/><Relationship Id="rId5" Type="http://schemas.openxmlformats.org/officeDocument/2006/relationships/image" Target="../media/image16.pn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2.png"/><Relationship Id="rId7" Type="http://schemas.openxmlformats.org/officeDocument/2006/relationships/image" Target="../media/image34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svg"/><Relationship Id="rId11" Type="http://schemas.openxmlformats.org/officeDocument/2006/relationships/image" Target="../media/image38.png"/><Relationship Id="rId5" Type="http://schemas.openxmlformats.org/officeDocument/2006/relationships/image" Target="../media/image33.png"/><Relationship Id="rId10" Type="http://schemas.openxmlformats.org/officeDocument/2006/relationships/image" Target="../media/image37.png"/><Relationship Id="rId4" Type="http://schemas.openxmlformats.org/officeDocument/2006/relationships/image" Target="../media/image45.svg"/><Relationship Id="rId9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3" Type="http://schemas.openxmlformats.org/officeDocument/2006/relationships/image" Target="../media/image54.sv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Relationship Id="rId14" Type="http://schemas.openxmlformats.org/officeDocument/2006/relationships/image" Target="../media/image5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67.svg"/><Relationship Id="rId7" Type="http://schemas.openxmlformats.org/officeDocument/2006/relationships/image" Target="../media/image54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69.svg"/><Relationship Id="rId4" Type="http://schemas.openxmlformats.org/officeDocument/2006/relationships/image" Target="../media/image52.png"/><Relationship Id="rId9" Type="http://schemas.openxmlformats.org/officeDocument/2006/relationships/image" Target="../media/image5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75.svg"/><Relationship Id="rId7" Type="http://schemas.openxmlformats.org/officeDocument/2006/relationships/image" Target="../media/image79.svg"/><Relationship Id="rId12" Type="http://schemas.openxmlformats.org/officeDocument/2006/relationships/image" Target="../media/image62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11" Type="http://schemas.openxmlformats.org/officeDocument/2006/relationships/image" Target="../media/image83.svg"/><Relationship Id="rId5" Type="http://schemas.openxmlformats.org/officeDocument/2006/relationships/image" Target="../media/image77.svg"/><Relationship Id="rId10" Type="http://schemas.openxmlformats.org/officeDocument/2006/relationships/image" Target="../media/image61.png"/><Relationship Id="rId4" Type="http://schemas.openxmlformats.org/officeDocument/2006/relationships/image" Target="../media/image58.png"/><Relationship Id="rId9" Type="http://schemas.openxmlformats.org/officeDocument/2006/relationships/image" Target="../media/image81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86.svg"/><Relationship Id="rId7" Type="http://schemas.openxmlformats.org/officeDocument/2006/relationships/image" Target="../media/image90.sv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9.svg"/><Relationship Id="rId5" Type="http://schemas.openxmlformats.org/officeDocument/2006/relationships/image" Target="../media/image88.svg"/><Relationship Id="rId4" Type="http://schemas.openxmlformats.org/officeDocument/2006/relationships/image" Target="../media/image6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93.svg"/><Relationship Id="rId7" Type="http://schemas.openxmlformats.org/officeDocument/2006/relationships/image" Target="../media/image97.sv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11" Type="http://schemas.openxmlformats.org/officeDocument/2006/relationships/image" Target="../media/image71.png"/><Relationship Id="rId5" Type="http://schemas.openxmlformats.org/officeDocument/2006/relationships/image" Target="../media/image95.svg"/><Relationship Id="rId10" Type="http://schemas.openxmlformats.org/officeDocument/2006/relationships/image" Target="../media/image70.png"/><Relationship Id="rId4" Type="http://schemas.openxmlformats.org/officeDocument/2006/relationships/image" Target="../media/image67.png"/><Relationship Id="rId9" Type="http://schemas.openxmlformats.org/officeDocument/2006/relationships/image" Target="../media/image99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103.svg"/><Relationship Id="rId7" Type="http://schemas.openxmlformats.org/officeDocument/2006/relationships/image" Target="../media/image107.sv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5" Type="http://schemas.openxmlformats.org/officeDocument/2006/relationships/image" Target="../media/image105.svg"/><Relationship Id="rId4" Type="http://schemas.openxmlformats.org/officeDocument/2006/relationships/image" Target="../media/image7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1.sv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svg"/><Relationship Id="rId3" Type="http://schemas.openxmlformats.org/officeDocument/2006/relationships/image" Target="../media/image113.svg"/><Relationship Id="rId7" Type="http://schemas.openxmlformats.org/officeDocument/2006/relationships/image" Target="../media/image117.svg"/><Relationship Id="rId12" Type="http://schemas.openxmlformats.org/officeDocument/2006/relationships/image" Target="../media/image122.sv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png"/><Relationship Id="rId11" Type="http://schemas.openxmlformats.org/officeDocument/2006/relationships/image" Target="../media/image82.png"/><Relationship Id="rId5" Type="http://schemas.openxmlformats.org/officeDocument/2006/relationships/image" Target="../media/image115.svg"/><Relationship Id="rId10" Type="http://schemas.openxmlformats.org/officeDocument/2006/relationships/image" Target="../media/image120.svg"/><Relationship Id="rId4" Type="http://schemas.openxmlformats.org/officeDocument/2006/relationships/image" Target="../media/image79.png"/><Relationship Id="rId9" Type="http://schemas.openxmlformats.org/officeDocument/2006/relationships/image" Target="../media/image8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svg"/><Relationship Id="rId7" Type="http://schemas.openxmlformats.org/officeDocument/2006/relationships/image" Target="../media/image86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5.png"/><Relationship Id="rId5" Type="http://schemas.openxmlformats.org/officeDocument/2006/relationships/image" Target="../media/image126.svg"/><Relationship Id="rId4" Type="http://schemas.openxmlformats.org/officeDocument/2006/relationships/image" Target="../media/image8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svg"/><Relationship Id="rId7" Type="http://schemas.openxmlformats.org/officeDocument/2006/relationships/image" Target="../media/image134.sv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9.png"/><Relationship Id="rId5" Type="http://schemas.openxmlformats.org/officeDocument/2006/relationships/image" Target="../media/image132.svg"/><Relationship Id="rId4" Type="http://schemas.openxmlformats.org/officeDocument/2006/relationships/image" Target="../media/image8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sv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8.svg"/><Relationship Id="rId4" Type="http://schemas.openxmlformats.org/officeDocument/2006/relationships/image" Target="../media/image91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140.svg"/><Relationship Id="rId7" Type="http://schemas.openxmlformats.org/officeDocument/2006/relationships/image" Target="../media/image85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4.png"/><Relationship Id="rId5" Type="http://schemas.openxmlformats.org/officeDocument/2006/relationships/image" Target="../media/image142.svg"/><Relationship Id="rId4" Type="http://schemas.openxmlformats.org/officeDocument/2006/relationships/image" Target="../media/image93.png"/><Relationship Id="rId9" Type="http://schemas.openxmlformats.org/officeDocument/2006/relationships/image" Target="../media/image9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svg"/><Relationship Id="rId7" Type="http://schemas.openxmlformats.org/officeDocument/2006/relationships/image" Target="../media/image99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5.png"/><Relationship Id="rId5" Type="http://schemas.openxmlformats.org/officeDocument/2006/relationships/image" Target="../media/image149.svg"/><Relationship Id="rId4" Type="http://schemas.openxmlformats.org/officeDocument/2006/relationships/image" Target="../media/image98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3" Type="http://schemas.openxmlformats.org/officeDocument/2006/relationships/image" Target="../media/image152.svg"/><Relationship Id="rId7" Type="http://schemas.openxmlformats.org/officeDocument/2006/relationships/image" Target="../media/image85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2.png"/><Relationship Id="rId5" Type="http://schemas.openxmlformats.org/officeDocument/2006/relationships/image" Target="../media/image154.svg"/><Relationship Id="rId4" Type="http://schemas.openxmlformats.org/officeDocument/2006/relationships/image" Target="../media/image101.png"/><Relationship Id="rId9" Type="http://schemas.openxmlformats.org/officeDocument/2006/relationships/image" Target="../media/image104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3" Type="http://schemas.openxmlformats.org/officeDocument/2006/relationships/image" Target="../media/image159.svg"/><Relationship Id="rId7" Type="http://schemas.openxmlformats.org/officeDocument/2006/relationships/image" Target="../media/image163.sv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7.png"/><Relationship Id="rId5" Type="http://schemas.openxmlformats.org/officeDocument/2006/relationships/image" Target="../media/image161.svg"/><Relationship Id="rId4" Type="http://schemas.openxmlformats.org/officeDocument/2006/relationships/image" Target="../media/image106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13" Type="http://schemas.openxmlformats.org/officeDocument/2006/relationships/image" Target="../media/image114.png"/><Relationship Id="rId18" Type="http://schemas.openxmlformats.org/officeDocument/2006/relationships/image" Target="../media/image119.png"/><Relationship Id="rId3" Type="http://schemas.openxmlformats.org/officeDocument/2006/relationships/image" Target="../media/image166.svg"/><Relationship Id="rId21" Type="http://schemas.openxmlformats.org/officeDocument/2006/relationships/image" Target="../media/image122.png"/><Relationship Id="rId7" Type="http://schemas.openxmlformats.org/officeDocument/2006/relationships/image" Target="../media/image170.svg"/><Relationship Id="rId12" Type="http://schemas.openxmlformats.org/officeDocument/2006/relationships/image" Target="../media/image113.png"/><Relationship Id="rId17" Type="http://schemas.openxmlformats.org/officeDocument/2006/relationships/image" Target="../media/image118.png"/><Relationship Id="rId2" Type="http://schemas.openxmlformats.org/officeDocument/2006/relationships/image" Target="../media/image109.png"/><Relationship Id="rId16" Type="http://schemas.openxmlformats.org/officeDocument/2006/relationships/image" Target="../media/image117.png"/><Relationship Id="rId20" Type="http://schemas.openxmlformats.org/officeDocument/2006/relationships/image" Target="../media/image1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1.png"/><Relationship Id="rId11" Type="http://schemas.openxmlformats.org/officeDocument/2006/relationships/image" Target="../media/image172.svg"/><Relationship Id="rId5" Type="http://schemas.openxmlformats.org/officeDocument/2006/relationships/image" Target="../media/image168.svg"/><Relationship Id="rId15" Type="http://schemas.openxmlformats.org/officeDocument/2006/relationships/image" Target="../media/image116.png"/><Relationship Id="rId10" Type="http://schemas.openxmlformats.org/officeDocument/2006/relationships/image" Target="../media/image112.png"/><Relationship Id="rId19" Type="http://schemas.openxmlformats.org/officeDocument/2006/relationships/image" Target="../media/image120.png"/><Relationship Id="rId4" Type="http://schemas.openxmlformats.org/officeDocument/2006/relationships/image" Target="../media/image110.png"/><Relationship Id="rId9" Type="http://schemas.openxmlformats.org/officeDocument/2006/relationships/image" Target="../media/image161.svg"/><Relationship Id="rId14" Type="http://schemas.openxmlformats.org/officeDocument/2006/relationships/image" Target="../media/image115.png"/><Relationship Id="rId22" Type="http://schemas.openxmlformats.org/officeDocument/2006/relationships/image" Target="../media/image123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png"/><Relationship Id="rId13" Type="http://schemas.openxmlformats.org/officeDocument/2006/relationships/image" Target="../media/image131.png"/><Relationship Id="rId3" Type="http://schemas.openxmlformats.org/officeDocument/2006/relationships/image" Target="../media/image185.svg"/><Relationship Id="rId7" Type="http://schemas.openxmlformats.org/officeDocument/2006/relationships/image" Target="../media/image189.svg"/><Relationship Id="rId12" Type="http://schemas.openxmlformats.org/officeDocument/2006/relationships/image" Target="../media/image130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6.png"/><Relationship Id="rId11" Type="http://schemas.openxmlformats.org/officeDocument/2006/relationships/image" Target="../media/image129.png"/><Relationship Id="rId5" Type="http://schemas.openxmlformats.org/officeDocument/2006/relationships/image" Target="../media/image187.svg"/><Relationship Id="rId10" Type="http://schemas.openxmlformats.org/officeDocument/2006/relationships/image" Target="../media/image128.png"/><Relationship Id="rId4" Type="http://schemas.openxmlformats.org/officeDocument/2006/relationships/image" Target="../media/image125.png"/><Relationship Id="rId9" Type="http://schemas.openxmlformats.org/officeDocument/2006/relationships/image" Target="../media/image191.sv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7.sv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3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sv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2.svg"/><Relationship Id="rId4" Type="http://schemas.openxmlformats.org/officeDocument/2006/relationships/image" Target="../media/image13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4.svg"/><Relationship Id="rId7" Type="http://schemas.openxmlformats.org/officeDocument/2006/relationships/image" Target="../media/image208.sv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8.png"/><Relationship Id="rId5" Type="http://schemas.openxmlformats.org/officeDocument/2006/relationships/image" Target="../media/image206.svg"/><Relationship Id="rId4" Type="http://schemas.openxmlformats.org/officeDocument/2006/relationships/image" Target="../media/image137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png"/><Relationship Id="rId13" Type="http://schemas.openxmlformats.org/officeDocument/2006/relationships/image" Target="../media/image220.svg"/><Relationship Id="rId18" Type="http://schemas.openxmlformats.org/officeDocument/2006/relationships/image" Target="../media/image149.png"/><Relationship Id="rId3" Type="http://schemas.openxmlformats.org/officeDocument/2006/relationships/image" Target="../media/image210.svg"/><Relationship Id="rId7" Type="http://schemas.openxmlformats.org/officeDocument/2006/relationships/image" Target="../media/image214.svg"/><Relationship Id="rId12" Type="http://schemas.openxmlformats.org/officeDocument/2006/relationships/image" Target="../media/image144.png"/><Relationship Id="rId17" Type="http://schemas.openxmlformats.org/officeDocument/2006/relationships/image" Target="../media/image148.png"/><Relationship Id="rId2" Type="http://schemas.openxmlformats.org/officeDocument/2006/relationships/image" Target="../media/image139.png"/><Relationship Id="rId16" Type="http://schemas.openxmlformats.org/officeDocument/2006/relationships/image" Target="../media/image1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1.png"/><Relationship Id="rId11" Type="http://schemas.openxmlformats.org/officeDocument/2006/relationships/image" Target="../media/image218.svg"/><Relationship Id="rId5" Type="http://schemas.openxmlformats.org/officeDocument/2006/relationships/image" Target="../media/image212.svg"/><Relationship Id="rId15" Type="http://schemas.openxmlformats.org/officeDocument/2006/relationships/image" Target="../media/image146.png"/><Relationship Id="rId10" Type="http://schemas.openxmlformats.org/officeDocument/2006/relationships/image" Target="../media/image143.png"/><Relationship Id="rId4" Type="http://schemas.openxmlformats.org/officeDocument/2006/relationships/image" Target="../media/image140.png"/><Relationship Id="rId9" Type="http://schemas.openxmlformats.org/officeDocument/2006/relationships/image" Target="../media/image216.svg"/><Relationship Id="rId14" Type="http://schemas.openxmlformats.org/officeDocument/2006/relationships/image" Target="../media/image145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png"/><Relationship Id="rId3" Type="http://schemas.openxmlformats.org/officeDocument/2006/relationships/image" Target="../media/image150.png"/><Relationship Id="rId7" Type="http://schemas.openxmlformats.org/officeDocument/2006/relationships/image" Target="../media/image54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9.svg"/><Relationship Id="rId5" Type="http://schemas.openxmlformats.org/officeDocument/2006/relationships/image" Target="../media/image151.png"/><Relationship Id="rId4" Type="http://schemas.openxmlformats.org/officeDocument/2006/relationships/image" Target="../media/image227.svg"/><Relationship Id="rId9" Type="http://schemas.openxmlformats.org/officeDocument/2006/relationships/image" Target="../media/image153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png"/><Relationship Id="rId3" Type="http://schemas.openxmlformats.org/officeDocument/2006/relationships/image" Target="../media/image233.svg"/><Relationship Id="rId7" Type="http://schemas.openxmlformats.org/officeDocument/2006/relationships/image" Target="../media/image157.png"/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6.png"/><Relationship Id="rId5" Type="http://schemas.openxmlformats.org/officeDocument/2006/relationships/image" Target="../media/image235.svg"/><Relationship Id="rId10" Type="http://schemas.openxmlformats.org/officeDocument/2006/relationships/image" Target="../media/image160.png"/><Relationship Id="rId4" Type="http://schemas.openxmlformats.org/officeDocument/2006/relationships/image" Target="../media/image155.png"/><Relationship Id="rId9" Type="http://schemas.openxmlformats.org/officeDocument/2006/relationships/image" Target="../media/image159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7.svg"/><Relationship Id="rId3" Type="http://schemas.openxmlformats.org/officeDocument/2006/relationships/image" Target="../media/image242.svg"/><Relationship Id="rId7" Type="http://schemas.openxmlformats.org/officeDocument/2006/relationships/image" Target="../media/image163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5.svg"/><Relationship Id="rId11" Type="http://schemas.openxmlformats.org/officeDocument/2006/relationships/image" Target="../media/image250.svg"/><Relationship Id="rId5" Type="http://schemas.openxmlformats.org/officeDocument/2006/relationships/image" Target="../media/image162.png"/><Relationship Id="rId10" Type="http://schemas.openxmlformats.org/officeDocument/2006/relationships/image" Target="../media/image164.png"/><Relationship Id="rId4" Type="http://schemas.openxmlformats.org/officeDocument/2006/relationships/image" Target="../media/image243.svg"/><Relationship Id="rId9" Type="http://schemas.openxmlformats.org/officeDocument/2006/relationships/image" Target="../media/image248.sv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png"/><Relationship Id="rId3" Type="http://schemas.openxmlformats.org/officeDocument/2006/relationships/image" Target="../media/image252.svg"/><Relationship Id="rId7" Type="http://schemas.openxmlformats.org/officeDocument/2006/relationships/image" Target="../media/image256.svg"/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7.png"/><Relationship Id="rId5" Type="http://schemas.openxmlformats.org/officeDocument/2006/relationships/image" Target="../media/image254.svg"/><Relationship Id="rId4" Type="http://schemas.openxmlformats.org/officeDocument/2006/relationships/image" Target="../media/image166.png"/><Relationship Id="rId9" Type="http://schemas.openxmlformats.org/officeDocument/2006/relationships/image" Target="../media/image258.sv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svg"/><Relationship Id="rId2" Type="http://schemas.openxmlformats.org/officeDocument/2006/relationships/image" Target="../media/image16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2.svg"/><Relationship Id="rId4" Type="http://schemas.openxmlformats.org/officeDocument/2006/relationships/image" Target="../media/image17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4.svg"/><Relationship Id="rId7" Type="http://schemas.openxmlformats.org/officeDocument/2006/relationships/image" Target="../media/image174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3.png"/><Relationship Id="rId5" Type="http://schemas.openxmlformats.org/officeDocument/2006/relationships/image" Target="../media/image266.svg"/><Relationship Id="rId4" Type="http://schemas.openxmlformats.org/officeDocument/2006/relationships/image" Target="../media/image172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7.png"/><Relationship Id="rId13" Type="http://schemas.openxmlformats.org/officeDocument/2006/relationships/image" Target="../media/image182.png"/><Relationship Id="rId3" Type="http://schemas.openxmlformats.org/officeDocument/2006/relationships/image" Target="../media/image270.svg"/><Relationship Id="rId7" Type="http://schemas.openxmlformats.org/officeDocument/2006/relationships/image" Target="../media/image274.svg"/><Relationship Id="rId12" Type="http://schemas.openxmlformats.org/officeDocument/2006/relationships/image" Target="../media/image181.png"/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3.svg"/><Relationship Id="rId11" Type="http://schemas.openxmlformats.org/officeDocument/2006/relationships/image" Target="../media/image180.png"/><Relationship Id="rId5" Type="http://schemas.openxmlformats.org/officeDocument/2006/relationships/image" Target="../media/image272.svg"/><Relationship Id="rId10" Type="http://schemas.openxmlformats.org/officeDocument/2006/relationships/image" Target="../media/image179.png"/><Relationship Id="rId4" Type="http://schemas.openxmlformats.org/officeDocument/2006/relationships/image" Target="../media/image176.png"/><Relationship Id="rId9" Type="http://schemas.openxmlformats.org/officeDocument/2006/relationships/image" Target="../media/image178.png"/><Relationship Id="rId14" Type="http://schemas.openxmlformats.org/officeDocument/2006/relationships/image" Target="../media/image28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6990"/>
            <a:chOff x="0" y="0"/>
            <a:chExt cx="24384000" cy="1371598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59" b="-925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028700" y="9064142"/>
            <a:ext cx="2781043" cy="350520"/>
            <a:chOff x="0" y="0"/>
            <a:chExt cx="3708057" cy="4673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708019" cy="467360"/>
            </a:xfrm>
            <a:custGeom>
              <a:avLst/>
              <a:gdLst/>
              <a:ahLst/>
              <a:cxnLst/>
              <a:rect l="l" t="t" r="r" b="b"/>
              <a:pathLst>
                <a:path w="3708019" h="467360">
                  <a:moveTo>
                    <a:pt x="0" y="0"/>
                  </a:moveTo>
                  <a:lnTo>
                    <a:pt x="3708019" y="0"/>
                  </a:lnTo>
                  <a:lnTo>
                    <a:pt x="3708019" y="467360"/>
                  </a:lnTo>
                  <a:lnTo>
                    <a:pt x="0" y="467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1887200" y="7804404"/>
            <a:ext cx="6400800" cy="2482596"/>
            <a:chOff x="0" y="0"/>
            <a:chExt cx="8534400" cy="331012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534400" cy="3310128"/>
            </a:xfrm>
            <a:custGeom>
              <a:avLst/>
              <a:gdLst/>
              <a:ahLst/>
              <a:cxnLst/>
              <a:rect l="l" t="t" r="r" b="b"/>
              <a:pathLst>
                <a:path w="8534400" h="3310128">
                  <a:moveTo>
                    <a:pt x="0" y="0"/>
                  </a:moveTo>
                  <a:lnTo>
                    <a:pt x="8534400" y="0"/>
                  </a:lnTo>
                  <a:lnTo>
                    <a:pt x="8534400" y="3310128"/>
                  </a:lnTo>
                  <a:lnTo>
                    <a:pt x="0" y="3310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8333" b="-2762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61544" y="2009470"/>
            <a:ext cx="2689265" cy="2005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83"/>
              </a:lnSpc>
            </a:pPr>
            <a:r>
              <a:rPr lang="en-US" sz="10274" b="1">
                <a:solidFill>
                  <a:srgbClr val="FFFFFF"/>
                </a:solidFill>
                <a:latin typeface="Heading Now 11-18 Bold"/>
                <a:ea typeface="Heading Now 11-18 Bold"/>
                <a:cs typeface="Heading Now 11-18 Bold"/>
                <a:sym typeface="Heading Now 11-18 Bold"/>
              </a:rPr>
              <a:t>AI Unlocked: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929128" y="3317567"/>
            <a:ext cx="10005178" cy="2006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80"/>
              </a:lnSpc>
            </a:pPr>
            <a:r>
              <a:rPr lang="en-US" sz="10272" b="1" dirty="0">
                <a:solidFill>
                  <a:srgbClr val="FFFFFF"/>
                </a:solidFill>
                <a:latin typeface="Heading Now 11-18 Bold"/>
                <a:ea typeface="Heading Now 11-18 Bold"/>
                <a:cs typeface="Heading Now 11-18 Bold"/>
                <a:sym typeface="Heading Now 11-18 Bold"/>
              </a:rPr>
              <a:t>The Fundamentals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7820437"/>
            <a:ext cx="33909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304" dirty="0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Presented by 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934712" y="1656588"/>
            <a:ext cx="8365236" cy="8365236"/>
            <a:chOff x="0" y="0"/>
            <a:chExt cx="11153648" cy="111536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153648" cy="11153648"/>
            </a:xfrm>
            <a:custGeom>
              <a:avLst/>
              <a:gdLst/>
              <a:ahLst/>
              <a:cxnLst/>
              <a:rect l="l" t="t" r="r" b="b"/>
              <a:pathLst>
                <a:path w="11153648" h="11153648">
                  <a:moveTo>
                    <a:pt x="0" y="0"/>
                  </a:moveTo>
                  <a:lnTo>
                    <a:pt x="11153648" y="0"/>
                  </a:lnTo>
                  <a:lnTo>
                    <a:pt x="11153648" y="11153648"/>
                  </a:lnTo>
                  <a:lnTo>
                    <a:pt x="0" y="111536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1039673" y="483079"/>
            <a:ext cx="6608083" cy="901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5"/>
              </a:lnSpc>
            </a:pPr>
            <a:r>
              <a:rPr lang="en-US" sz="4404" b="1" i="1">
                <a:solidFill>
                  <a:srgbClr val="050A3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AI Fields of Application</a:t>
            </a:r>
            <a:r>
              <a:rPr lang="en-US" sz="4404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085588" y="0"/>
            <a:ext cx="12419076" cy="10287000"/>
            <a:chOff x="0" y="0"/>
            <a:chExt cx="16558768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558768" cy="13716000"/>
            </a:xfrm>
            <a:custGeom>
              <a:avLst/>
              <a:gdLst/>
              <a:ahLst/>
              <a:cxnLst/>
              <a:rect l="l" t="t" r="r" b="b"/>
              <a:pathLst>
                <a:path w="16558768" h="13716000">
                  <a:moveTo>
                    <a:pt x="0" y="0"/>
                  </a:moveTo>
                  <a:lnTo>
                    <a:pt x="16558768" y="0"/>
                  </a:lnTo>
                  <a:lnTo>
                    <a:pt x="16558768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1096" t="-12059" r="-34682" b="-11362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699516" y="1123598"/>
            <a:ext cx="6398885" cy="982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 i="1">
                <a:solidFill>
                  <a:srgbClr val="050A3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Artificial Intelligence</a:t>
            </a:r>
            <a:r>
              <a:rPr lang="en-US" sz="4800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46325" y="4430773"/>
            <a:ext cx="8166097" cy="3402073"/>
          </a:xfrm>
          <a:custGeom>
            <a:avLst/>
            <a:gdLst/>
            <a:ahLst/>
            <a:cxnLst/>
            <a:rect l="l" t="t" r="r" b="b"/>
            <a:pathLst>
              <a:path w="8166097" h="3402073">
                <a:moveTo>
                  <a:pt x="0" y="0"/>
                </a:moveTo>
                <a:lnTo>
                  <a:pt x="8166097" y="0"/>
                </a:lnTo>
                <a:lnTo>
                  <a:pt x="8166097" y="3402073"/>
                </a:lnTo>
                <a:lnTo>
                  <a:pt x="0" y="34020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275569" y="4430773"/>
            <a:ext cx="8166097" cy="3402073"/>
          </a:xfrm>
          <a:custGeom>
            <a:avLst/>
            <a:gdLst/>
            <a:ahLst/>
            <a:cxnLst/>
            <a:rect l="l" t="t" r="r" b="b"/>
            <a:pathLst>
              <a:path w="8166097" h="3402073">
                <a:moveTo>
                  <a:pt x="0" y="0"/>
                </a:moveTo>
                <a:lnTo>
                  <a:pt x="8166097" y="0"/>
                </a:lnTo>
                <a:lnTo>
                  <a:pt x="8166097" y="3402073"/>
                </a:lnTo>
                <a:lnTo>
                  <a:pt x="0" y="34020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385316" y="4969764"/>
            <a:ext cx="685800" cy="685800"/>
            <a:chOff x="0" y="0"/>
            <a:chExt cx="914400" cy="914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9816084" y="4969764"/>
            <a:ext cx="685800" cy="685800"/>
            <a:chOff x="0" y="0"/>
            <a:chExt cx="914400" cy="914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528572" y="5155692"/>
            <a:ext cx="400812" cy="315468"/>
            <a:chOff x="0" y="0"/>
            <a:chExt cx="534416" cy="42062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34416" cy="420624"/>
            </a:xfrm>
            <a:custGeom>
              <a:avLst/>
              <a:gdLst/>
              <a:ahLst/>
              <a:cxnLst/>
              <a:rect l="l" t="t" r="r" b="b"/>
              <a:pathLst>
                <a:path w="534416" h="420624">
                  <a:moveTo>
                    <a:pt x="0" y="0"/>
                  </a:moveTo>
                  <a:lnTo>
                    <a:pt x="534416" y="0"/>
                  </a:lnTo>
                  <a:lnTo>
                    <a:pt x="534416" y="420624"/>
                  </a:lnTo>
                  <a:lnTo>
                    <a:pt x="0" y="420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0002012" y="5155692"/>
            <a:ext cx="313944" cy="315468"/>
            <a:chOff x="0" y="0"/>
            <a:chExt cx="418592" cy="42062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18592" cy="420624"/>
            </a:xfrm>
            <a:custGeom>
              <a:avLst/>
              <a:gdLst/>
              <a:ahLst/>
              <a:cxnLst/>
              <a:rect l="l" t="t" r="r" b="b"/>
              <a:pathLst>
                <a:path w="418592" h="420624">
                  <a:moveTo>
                    <a:pt x="0" y="0"/>
                  </a:moveTo>
                  <a:lnTo>
                    <a:pt x="418592" y="0"/>
                  </a:lnTo>
                  <a:lnTo>
                    <a:pt x="418592" y="420624"/>
                  </a:lnTo>
                  <a:lnTo>
                    <a:pt x="0" y="420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914400" y="961053"/>
            <a:ext cx="7750169" cy="634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1" i="1">
                <a:solidFill>
                  <a:srgbClr val="0F172A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History of AI: Turing's Foundations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30893" y="1817246"/>
            <a:ext cx="73123" cy="351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2"/>
              </a:lnSpc>
            </a:pPr>
            <a:r>
              <a:rPr lang="en-US" sz="203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14400" y="1817246"/>
            <a:ext cx="9855279" cy="351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2"/>
              </a:lnSpc>
            </a:pPr>
            <a:r>
              <a:rPr lang="en-US" sz="203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AlanTuringlaidthefoundationsofAIasearlyas</a:t>
            </a:r>
            <a:r>
              <a:rPr lang="en-US" sz="2030" b="1" i="1">
                <a:solidFill>
                  <a:srgbClr val="475569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1948–1950</a:t>
            </a:r>
            <a:r>
              <a:rPr lang="en-US" sz="203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throughtwo core pillars: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85954" y="5877011"/>
            <a:ext cx="7380856" cy="1377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6"/>
              </a:lnSpc>
            </a:pPr>
            <a:r>
              <a:rPr lang="en-US" sz="2472" b="1" i="1" spc="2">
                <a:solidFill>
                  <a:srgbClr val="0F172A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Ancestors of Neural Networks</a:t>
            </a:r>
          </a:p>
          <a:p>
            <a:pPr algn="l">
              <a:lnSpc>
                <a:spcPts val="2999"/>
              </a:lnSpc>
            </a:pPr>
            <a:r>
              <a:rPr lang="en-US" sz="2028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Theorized </a:t>
            </a:r>
            <a:r>
              <a:rPr lang="en-US" sz="2028" b="1" i="1">
                <a:solidFill>
                  <a:srgbClr val="475569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"unorganized machines"</a:t>
            </a:r>
            <a:r>
              <a:rPr lang="en-US" sz="2028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learning through trial and error (reinforcement learning principle).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816341" y="5877011"/>
            <a:ext cx="6445596" cy="1377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6"/>
              </a:lnSpc>
            </a:pPr>
            <a:r>
              <a:rPr lang="en-US" sz="2472" b="1" i="1">
                <a:solidFill>
                  <a:srgbClr val="0F172A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The Child Brain Concept</a:t>
            </a:r>
          </a:p>
          <a:p>
            <a:pPr algn="l">
              <a:lnSpc>
                <a:spcPts val="2999"/>
              </a:lnSpc>
            </a:pPr>
            <a:r>
              <a:rPr lang="en-US" sz="2028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Proposed simple systems that </a:t>
            </a:r>
            <a:r>
              <a:rPr lang="en-US" sz="2028" b="1" i="1">
                <a:solidFill>
                  <a:srgbClr val="475569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learn from data and experience</a:t>
            </a:r>
            <a:r>
              <a:rPr lang="en-US" sz="2028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rather than hand-coded human knowledge.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272027" y="5152654"/>
            <a:ext cx="1618097" cy="283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1572" b="1" i="1">
                <a:solidFill>
                  <a:srgbClr val="059669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1948 Foundation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702166" y="5152654"/>
            <a:ext cx="1618097" cy="283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1572" b="1" i="1">
                <a:solidFill>
                  <a:srgbClr val="0284C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1950 Foundation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138172"/>
            <a:ext cx="8122920" cy="5420868"/>
            <a:chOff x="0" y="0"/>
            <a:chExt cx="10830560" cy="722782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830560" cy="7227824"/>
            </a:xfrm>
            <a:custGeom>
              <a:avLst/>
              <a:gdLst/>
              <a:ahLst/>
              <a:cxnLst/>
              <a:rect l="l" t="t" r="r" b="b"/>
              <a:pathLst>
                <a:path w="10830560" h="7227824">
                  <a:moveTo>
                    <a:pt x="0" y="0"/>
                  </a:moveTo>
                  <a:lnTo>
                    <a:pt x="10830560" y="0"/>
                  </a:lnTo>
                  <a:lnTo>
                    <a:pt x="10830560" y="7227824"/>
                  </a:lnTo>
                  <a:lnTo>
                    <a:pt x="0" y="7227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9075925" y="1993897"/>
            <a:ext cx="8897617" cy="5540245"/>
          </a:xfrm>
          <a:custGeom>
            <a:avLst/>
            <a:gdLst/>
            <a:ahLst/>
            <a:cxnLst/>
            <a:rect l="l" t="t" r="r" b="b"/>
            <a:pathLst>
              <a:path w="8897617" h="5540245">
                <a:moveTo>
                  <a:pt x="0" y="0"/>
                </a:moveTo>
                <a:lnTo>
                  <a:pt x="8897617" y="0"/>
                </a:lnTo>
                <a:lnTo>
                  <a:pt x="8897617" y="5540245"/>
                </a:lnTo>
                <a:lnTo>
                  <a:pt x="0" y="55402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0" y="2138172"/>
            <a:ext cx="8839200" cy="8148828"/>
            <a:chOff x="0" y="0"/>
            <a:chExt cx="11785600" cy="1086510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785600" cy="10865104"/>
            </a:xfrm>
            <a:custGeom>
              <a:avLst/>
              <a:gdLst/>
              <a:ahLst/>
              <a:cxnLst/>
              <a:rect l="l" t="t" r="r" b="b"/>
              <a:pathLst>
                <a:path w="11785600" h="10865104">
                  <a:moveTo>
                    <a:pt x="0" y="0"/>
                  </a:moveTo>
                  <a:lnTo>
                    <a:pt x="11785600" y="0"/>
                  </a:lnTo>
                  <a:lnTo>
                    <a:pt x="11785600" y="10865104"/>
                  </a:lnTo>
                  <a:lnTo>
                    <a:pt x="0" y="108651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918667" y="1099833"/>
            <a:ext cx="15873346" cy="634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3602" b="1" i="1">
                <a:solidFill>
                  <a:srgbClr val="050A3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Robot seem as single AI system but several AI systems run in parallel !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38161" y="4293279"/>
            <a:ext cx="7447902" cy="445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4"/>
              </a:lnSpc>
            </a:pPr>
            <a:r>
              <a:rPr lang="en-US" sz="2532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-US" sz="2532" b="1" i="1">
                <a:solidFill>
                  <a:srgbClr val="050A3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Object Identification System → Deep Learning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38161" y="2959398"/>
            <a:ext cx="8080924" cy="445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4"/>
              </a:lnSpc>
            </a:pPr>
            <a:r>
              <a:rPr lang="en-US" sz="2532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-US" sz="2532" b="1" i="1">
                <a:solidFill>
                  <a:srgbClr val="050A3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Environment Mapping System → Computer Vision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96073" y="6515529"/>
            <a:ext cx="8774963" cy="445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4"/>
              </a:lnSpc>
            </a:pPr>
            <a:r>
              <a:rPr lang="en-US" sz="2532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-US" sz="2532" b="1" i="1">
                <a:solidFill>
                  <a:srgbClr val="050A3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Grip &amp; Movement Control System → Machine Learning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724656" y="1911096"/>
            <a:ext cx="9403080" cy="8375904"/>
            <a:chOff x="0" y="0"/>
            <a:chExt cx="12537440" cy="111678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537440" cy="11167872"/>
            </a:xfrm>
            <a:custGeom>
              <a:avLst/>
              <a:gdLst/>
              <a:ahLst/>
              <a:cxnLst/>
              <a:rect l="l" t="t" r="r" b="b"/>
              <a:pathLst>
                <a:path w="12537440" h="11167872">
                  <a:moveTo>
                    <a:pt x="0" y="0"/>
                  </a:moveTo>
                  <a:lnTo>
                    <a:pt x="12537440" y="0"/>
                  </a:lnTo>
                  <a:lnTo>
                    <a:pt x="12537440" y="11167872"/>
                  </a:lnTo>
                  <a:lnTo>
                    <a:pt x="0" y="111678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785" b="-9500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97231" y="439522"/>
            <a:ext cx="10696299" cy="923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7"/>
              </a:lnSpc>
            </a:pPr>
            <a:r>
              <a:rPr lang="en-US" sz="5198">
                <a:solidFill>
                  <a:srgbClr val="000000"/>
                </a:solidFill>
                <a:latin typeface="Extenda 40 Hecto"/>
                <a:ea typeface="Extenda 40 Hecto"/>
                <a:cs typeface="Extenda 40 Hecto"/>
                <a:sym typeface="Extenda 40 Hecto"/>
              </a:rPr>
              <a:t>Hierarchy of Artificial Intelligence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71600" y="1141476"/>
            <a:ext cx="4114800" cy="609600"/>
          </a:xfrm>
          <a:custGeom>
            <a:avLst/>
            <a:gdLst/>
            <a:ahLst/>
            <a:cxnLst/>
            <a:rect l="l" t="t" r="r" b="b"/>
            <a:pathLst>
              <a:path w="4114800" h="609600">
                <a:moveTo>
                  <a:pt x="0" y="0"/>
                </a:moveTo>
                <a:lnTo>
                  <a:pt x="4114800" y="0"/>
                </a:lnTo>
                <a:lnTo>
                  <a:pt x="4114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71600" y="6975348"/>
            <a:ext cx="914400" cy="56388"/>
          </a:xfrm>
          <a:custGeom>
            <a:avLst/>
            <a:gdLst/>
            <a:ahLst/>
            <a:cxnLst/>
            <a:rect l="l" t="t" r="r" b="b"/>
            <a:pathLst>
              <a:path w="914400" h="56388">
                <a:moveTo>
                  <a:pt x="0" y="0"/>
                </a:moveTo>
                <a:lnTo>
                  <a:pt x="914400" y="0"/>
                </a:lnTo>
                <a:lnTo>
                  <a:pt x="914400" y="56388"/>
                </a:lnTo>
                <a:lnTo>
                  <a:pt x="0" y="563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371600" y="3215926"/>
            <a:ext cx="3512839" cy="351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9"/>
              </a:lnSpc>
            </a:pPr>
            <a:r>
              <a:rPr lang="en-US" sz="2028" b="1" i="1">
                <a:solidFill>
                  <a:srgbClr val="3B82F6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THE PRE-STATISTICAL ERA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71600" y="3802047"/>
            <a:ext cx="6273489" cy="1240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83"/>
              </a:lnSpc>
            </a:pPr>
            <a:r>
              <a:rPr lang="en-US" sz="7202" b="1" i="1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Symbolic NLP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056638" y="5320475"/>
            <a:ext cx="97317" cy="471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3"/>
              </a:lnSpc>
            </a:pPr>
            <a:r>
              <a:rPr lang="en-US" sz="2702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71600" y="5320475"/>
            <a:ext cx="8432454" cy="471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3"/>
              </a:lnSpc>
            </a:pPr>
            <a:r>
              <a:rPr lang="en-US" sz="2702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Howweprocessedlanguagebeforemachinelearning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71600" y="5732621"/>
            <a:ext cx="4121201" cy="471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anddeepneuralnetworks.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20497" y="1257929"/>
            <a:ext cx="3122190" cy="327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3"/>
              </a:lnSpc>
            </a:pPr>
            <a:r>
              <a:rPr lang="en-US" sz="1802" b="1" i="1">
                <a:solidFill>
                  <a:srgbClr val="0F172A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AI UNLOCKED: SECTION 01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0" y="0"/>
            <a:ext cx="8001000" cy="10287000"/>
            <a:chOff x="0" y="0"/>
            <a:chExt cx="10668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668000" cy="13716000"/>
            </a:xfrm>
            <a:custGeom>
              <a:avLst/>
              <a:gdLst/>
              <a:ahLst/>
              <a:cxnLst/>
              <a:rect l="l" t="t" r="r" b="b"/>
              <a:pathLst>
                <a:path w="10668000" h="13716000">
                  <a:moveTo>
                    <a:pt x="0" y="0"/>
                  </a:moveTo>
                  <a:lnTo>
                    <a:pt x="10668000" y="0"/>
                  </a:lnTo>
                  <a:lnTo>
                    <a:pt x="10668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0287000" y="0"/>
            <a:ext cx="8001000" cy="10287000"/>
            <a:chOff x="0" y="0"/>
            <a:chExt cx="10668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668000" cy="13716000"/>
            </a:xfrm>
            <a:custGeom>
              <a:avLst/>
              <a:gdLst/>
              <a:ahLst/>
              <a:cxnLst/>
              <a:rect l="l" t="t" r="r" b="b"/>
              <a:pathLst>
                <a:path w="10668000" h="13716000">
                  <a:moveTo>
                    <a:pt x="0" y="0"/>
                  </a:moveTo>
                  <a:lnTo>
                    <a:pt x="10668000" y="0"/>
                  </a:lnTo>
                  <a:lnTo>
                    <a:pt x="10668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143000" y="3439858"/>
            <a:ext cx="5054003" cy="942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400" b="1" i="1">
                <a:solidFill>
                  <a:srgbClr val="0F172A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Parsing Syntax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667000" y="4780474"/>
            <a:ext cx="97317" cy="471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3"/>
              </a:lnSpc>
            </a:pPr>
            <a:r>
              <a:rPr lang="en-US" sz="2702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43000" y="4780474"/>
            <a:ext cx="4217813" cy="471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3"/>
              </a:lnSpc>
            </a:pPr>
            <a:r>
              <a:rPr lang="en-US" sz="2702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Language</a:t>
            </a:r>
            <a:r>
              <a:rPr lang="en-US" sz="270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02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mapped</a:t>
            </a:r>
            <a:r>
              <a:rPr lang="en-US" sz="270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02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to</a:t>
            </a:r>
            <a:r>
              <a:rPr lang="en-US" sz="270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02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logic.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43000" y="5304882"/>
            <a:ext cx="4683262" cy="1318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2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Noun and verb phrases.</a:t>
            </a:r>
          </a:p>
          <a:p>
            <a:pPr algn="l">
              <a:lnSpc>
                <a:spcPts val="5400"/>
              </a:lnSpc>
            </a:pPr>
            <a:r>
              <a:rPr lang="en-US" sz="2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Rigid mathematical equations.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679697" y="2966209"/>
            <a:ext cx="12928597" cy="1041397"/>
          </a:xfrm>
          <a:custGeom>
            <a:avLst/>
            <a:gdLst/>
            <a:ahLst/>
            <a:cxnLst/>
            <a:rect l="l" t="t" r="r" b="b"/>
            <a:pathLst>
              <a:path w="12928597" h="1041397">
                <a:moveTo>
                  <a:pt x="0" y="0"/>
                </a:moveTo>
                <a:lnTo>
                  <a:pt x="12928597" y="0"/>
                </a:lnTo>
                <a:lnTo>
                  <a:pt x="12928597" y="1041397"/>
                </a:lnTo>
                <a:lnTo>
                  <a:pt x="0" y="10413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810126" y="1058532"/>
            <a:ext cx="6802079" cy="778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1" i="1">
                <a:solidFill>
                  <a:srgbClr val="0F172A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The Rule-Based Pipeline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848100" y="3226279"/>
            <a:ext cx="194462" cy="471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1" i="1">
                <a:solidFill>
                  <a:srgbClr val="FFFFFF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06114" y="4232367"/>
            <a:ext cx="3541805" cy="997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b="1" i="1">
                <a:solidFill>
                  <a:srgbClr val="0F172A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Tokenization</a:t>
            </a:r>
          </a:p>
          <a:p>
            <a:pPr algn="ctr">
              <a:lnSpc>
                <a:spcPts val="2842"/>
              </a:lnSpc>
            </a:pPr>
            <a:r>
              <a:rPr lang="en-US" sz="203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Splitting sentences into words.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049255" y="3226279"/>
            <a:ext cx="194462" cy="471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1" i="1">
                <a:solidFill>
                  <a:srgbClr val="FFFFFF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665977" y="4232367"/>
            <a:ext cx="3018396" cy="997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b="1" i="1" spc="2">
                <a:solidFill>
                  <a:srgbClr val="0F172A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Stemming</a:t>
            </a:r>
          </a:p>
          <a:p>
            <a:pPr algn="ctr">
              <a:lnSpc>
                <a:spcPts val="2842"/>
              </a:lnSpc>
            </a:pPr>
            <a:r>
              <a:rPr lang="en-US" sz="203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Stripping linguistic affixes.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250286" y="3226279"/>
            <a:ext cx="194462" cy="471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1" i="1">
                <a:solidFill>
                  <a:srgbClr val="FFFFFF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207240" y="4232367"/>
            <a:ext cx="4361364" cy="997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b="1" i="1">
                <a:solidFill>
                  <a:srgbClr val="0F172A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Rule Parsing</a:t>
            </a:r>
          </a:p>
          <a:p>
            <a:pPr algn="ctr">
              <a:lnSpc>
                <a:spcPts val="2842"/>
              </a:lnSpc>
            </a:pPr>
            <a:r>
              <a:rPr lang="en-US" sz="203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Applying logical grammar constraints.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60625" y="1897885"/>
            <a:ext cx="17390869" cy="8452609"/>
          </a:xfrm>
          <a:custGeom>
            <a:avLst/>
            <a:gdLst/>
            <a:ahLst/>
            <a:cxnLst/>
            <a:rect l="l" t="t" r="r" b="b"/>
            <a:pathLst>
              <a:path w="17390869" h="8452609">
                <a:moveTo>
                  <a:pt x="0" y="0"/>
                </a:moveTo>
                <a:lnTo>
                  <a:pt x="17390869" y="0"/>
                </a:lnTo>
                <a:lnTo>
                  <a:pt x="17390869" y="8452609"/>
                </a:lnTo>
                <a:lnTo>
                  <a:pt x="0" y="84526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757673" y="1058532"/>
            <a:ext cx="4868047" cy="778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1" i="1">
                <a:solidFill>
                  <a:srgbClr val="0F172A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Pipeline in Action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28854" y="3103340"/>
            <a:ext cx="2499017" cy="471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1" i="1">
                <a:solidFill>
                  <a:srgbClr val="2563EB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1. Tokenization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986910" y="3103340"/>
            <a:ext cx="2529650" cy="1202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1" i="1">
                <a:solidFill>
                  <a:srgbClr val="2563EB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2. Parsing</a:t>
            </a:r>
          </a:p>
          <a:p>
            <a:pPr algn="l">
              <a:lnSpc>
                <a:spcPts val="3158"/>
              </a:lnSpc>
            </a:pPr>
            <a:r>
              <a:rPr lang="en-US" sz="2256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Syntactic Structure: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28854" y="4367060"/>
            <a:ext cx="1574311" cy="395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256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Input String: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957454" y="5248189"/>
            <a:ext cx="1437827" cy="699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6" spc="2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"The robot speaks."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329810" y="5389921"/>
            <a:ext cx="3029579" cy="395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256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"speaks" └── Punc: "."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28854" y="6667129"/>
            <a:ext cx="1958350" cy="395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1"/>
              </a:lnSpc>
            </a:pPr>
            <a:r>
              <a:rPr lang="en-US" sz="2258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Output Tokens: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329810" y="4932178"/>
            <a:ext cx="12189695" cy="395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1"/>
              </a:lnSpc>
            </a:pPr>
            <a:r>
              <a:rPr lang="en-US" sz="2258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 ├── NP (Noun Phrase) │ ├── Det: "The" │ └── N: "robot" └── VP (Verb Phrase) ├── V: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957454" y="7395324"/>
            <a:ext cx="791975" cy="327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3"/>
              </a:lnSpc>
            </a:pPr>
            <a:r>
              <a:rPr lang="en-US" sz="1802" b="1" i="1">
                <a:solidFill>
                  <a:srgbClr val="0F172A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["The"]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57454" y="8967178"/>
            <a:ext cx="1166479" cy="327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3"/>
              </a:lnSpc>
            </a:pPr>
            <a:r>
              <a:rPr lang="en-US" sz="1802" b="1" i="1">
                <a:solidFill>
                  <a:srgbClr val="0F172A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["speaks"]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957454" y="9753543"/>
            <a:ext cx="441160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i="1">
                <a:solidFill>
                  <a:srgbClr val="0F172A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["."]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957454" y="8181746"/>
            <a:ext cx="973722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i="1" spc="1">
                <a:solidFill>
                  <a:srgbClr val="0F172A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["robot"]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001000" y="-1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8001000" cy="10287000"/>
            <a:chOff x="0" y="0"/>
            <a:chExt cx="10668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668000" cy="13716000"/>
            </a:xfrm>
            <a:custGeom>
              <a:avLst/>
              <a:gdLst/>
              <a:ahLst/>
              <a:cxnLst/>
              <a:rect l="l" t="t" r="r" b="b"/>
              <a:pathLst>
                <a:path w="10668000" h="13716000">
                  <a:moveTo>
                    <a:pt x="0" y="0"/>
                  </a:moveTo>
                  <a:lnTo>
                    <a:pt x="10668000" y="0"/>
                  </a:lnTo>
                  <a:lnTo>
                    <a:pt x="10668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8001000" cy="10287000"/>
            <a:chOff x="0" y="0"/>
            <a:chExt cx="10668000" cy="13716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668000" cy="13716000"/>
            </a:xfrm>
            <a:custGeom>
              <a:avLst/>
              <a:gdLst/>
              <a:ahLst/>
              <a:cxnLst/>
              <a:rect l="l" t="t" r="r" b="b"/>
              <a:pathLst>
                <a:path w="10668000" h="13716000">
                  <a:moveTo>
                    <a:pt x="0" y="0"/>
                  </a:moveTo>
                  <a:lnTo>
                    <a:pt x="10668000" y="0"/>
                  </a:lnTo>
                  <a:lnTo>
                    <a:pt x="10668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9144886" y="3096958"/>
            <a:ext cx="4210383" cy="942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400" b="1" i="1">
                <a:solidFill>
                  <a:srgbClr val="F8FAFC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ELIZA (1966)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734674" y="4437859"/>
            <a:ext cx="97231" cy="471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44886" y="4437859"/>
            <a:ext cx="3169158" cy="471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Theoriginal chatbot.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44886" y="4961982"/>
            <a:ext cx="5014131" cy="2004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27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Simulated a psychotherapist. Relied on keyword substitution. Zero underlying comprehension.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43000" y="3557016"/>
            <a:ext cx="7543800" cy="28956"/>
          </a:xfrm>
          <a:custGeom>
            <a:avLst/>
            <a:gdLst/>
            <a:ahLst/>
            <a:cxnLst/>
            <a:rect l="l" t="t" r="r" b="b"/>
            <a:pathLst>
              <a:path w="7543800" h="28956">
                <a:moveTo>
                  <a:pt x="0" y="0"/>
                </a:moveTo>
                <a:lnTo>
                  <a:pt x="7543800" y="0"/>
                </a:lnTo>
                <a:lnTo>
                  <a:pt x="7543800" y="28956"/>
                </a:lnTo>
                <a:lnTo>
                  <a:pt x="0" y="289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601200" y="3557016"/>
            <a:ext cx="7543800" cy="28956"/>
          </a:xfrm>
          <a:custGeom>
            <a:avLst/>
            <a:gdLst/>
            <a:ahLst/>
            <a:cxnLst/>
            <a:rect l="l" t="t" r="r" b="b"/>
            <a:pathLst>
              <a:path w="7543800" h="28956">
                <a:moveTo>
                  <a:pt x="0" y="0"/>
                </a:moveTo>
                <a:lnTo>
                  <a:pt x="7543800" y="0"/>
                </a:lnTo>
                <a:lnTo>
                  <a:pt x="7543800" y="28956"/>
                </a:lnTo>
                <a:lnTo>
                  <a:pt x="0" y="289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776846" y="1058532"/>
            <a:ext cx="6865753" cy="778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1" i="1">
                <a:solidFill>
                  <a:srgbClr val="0F172A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The Rule-Based Tradeoff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43000" y="2727693"/>
            <a:ext cx="1908820" cy="558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8"/>
              </a:lnSpc>
            </a:pPr>
            <a:r>
              <a:rPr lang="en-US" sz="3156" b="1" i="1">
                <a:solidFill>
                  <a:srgbClr val="16A34A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Strengths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602086" y="2727693"/>
            <a:ext cx="2444791" cy="558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8"/>
              </a:lnSpc>
            </a:pPr>
            <a:r>
              <a:rPr lang="en-US" sz="3156" b="1" i="1">
                <a:solidFill>
                  <a:srgbClr val="DC2626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Weaknesses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43000" y="3751297"/>
            <a:ext cx="4547206" cy="230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2700" b="1" i="1">
                <a:solidFill>
                  <a:srgbClr val="334155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Perfectly explainable logic. Zero training data required. High precision in niches.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602086" y="3751297"/>
            <a:ext cx="4914795" cy="230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2700" b="1" i="1">
                <a:solidFill>
                  <a:srgbClr val="334155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Brittle edge cases. Combinatorial rule explosion. Expensive expert labor.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8001000" cy="10287000"/>
            <a:chOff x="0" y="0"/>
            <a:chExt cx="10668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668000" cy="13716000"/>
            </a:xfrm>
            <a:custGeom>
              <a:avLst/>
              <a:gdLst/>
              <a:ahLst/>
              <a:cxnLst/>
              <a:rect l="l" t="t" r="r" b="b"/>
              <a:pathLst>
                <a:path w="10668000" h="13716000">
                  <a:moveTo>
                    <a:pt x="0" y="0"/>
                  </a:moveTo>
                  <a:lnTo>
                    <a:pt x="10668000" y="0"/>
                  </a:lnTo>
                  <a:lnTo>
                    <a:pt x="10668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8001000" cy="10287000"/>
            <a:chOff x="0" y="0"/>
            <a:chExt cx="10668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668000" cy="13716000"/>
            </a:xfrm>
            <a:custGeom>
              <a:avLst/>
              <a:gdLst/>
              <a:ahLst/>
              <a:cxnLst/>
              <a:rect l="l" t="t" r="r" b="b"/>
              <a:pathLst>
                <a:path w="10668000" h="13716000">
                  <a:moveTo>
                    <a:pt x="0" y="0"/>
                  </a:moveTo>
                  <a:lnTo>
                    <a:pt x="10668000" y="0"/>
                  </a:lnTo>
                  <a:lnTo>
                    <a:pt x="10668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9144886" y="3439858"/>
            <a:ext cx="6437643" cy="942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400" b="1" i="1">
                <a:solidFill>
                  <a:srgbClr val="0F172A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The Ambiguity Wall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668895" y="4780474"/>
            <a:ext cx="97317" cy="471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3"/>
              </a:lnSpc>
            </a:pPr>
            <a:r>
              <a:rPr lang="en-US" sz="2702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886" y="4780474"/>
            <a:ext cx="4696101" cy="471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3"/>
              </a:lnSpc>
            </a:pPr>
            <a:r>
              <a:rPr lang="en-US" sz="2702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Language</a:t>
            </a:r>
            <a:r>
              <a:rPr lang="en-US" sz="270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02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is</a:t>
            </a:r>
            <a:r>
              <a:rPr lang="en-US" sz="270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02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inherently</a:t>
            </a:r>
            <a:r>
              <a:rPr lang="en-US" sz="270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02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messy.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44886" y="5304882"/>
            <a:ext cx="5168722" cy="1318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2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Sarcasm breaks logic rules. Context changes fixed meanings.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8787384"/>
            <a:ext cx="16459200" cy="13716"/>
            <a:chOff x="0" y="0"/>
            <a:chExt cx="16459200" cy="13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459200" cy="13716"/>
            </a:xfrm>
            <a:custGeom>
              <a:avLst/>
              <a:gdLst/>
              <a:ahLst/>
              <a:cxnLst/>
              <a:rect l="l" t="t" r="r" b="b"/>
              <a:pathLst>
                <a:path w="16459200" h="13716">
                  <a:moveTo>
                    <a:pt x="0" y="13716"/>
                  </a:moveTo>
                  <a:lnTo>
                    <a:pt x="16459200" y="13716"/>
                  </a:lnTo>
                  <a:lnTo>
                    <a:pt x="16459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1F5F9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1646425" y="3475225"/>
            <a:ext cx="14995141" cy="4049773"/>
          </a:xfrm>
          <a:custGeom>
            <a:avLst/>
            <a:gdLst/>
            <a:ahLst/>
            <a:cxnLst/>
            <a:rect l="l" t="t" r="r" b="b"/>
            <a:pathLst>
              <a:path w="14995141" h="4049773">
                <a:moveTo>
                  <a:pt x="0" y="0"/>
                </a:moveTo>
                <a:lnTo>
                  <a:pt x="14995141" y="0"/>
                </a:lnTo>
                <a:lnTo>
                  <a:pt x="14995141" y="4049773"/>
                </a:lnTo>
                <a:lnTo>
                  <a:pt x="0" y="40497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772412" y="9115044"/>
            <a:ext cx="12486132" cy="228600"/>
            <a:chOff x="0" y="0"/>
            <a:chExt cx="16648176" cy="304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648176" cy="304800"/>
            </a:xfrm>
            <a:custGeom>
              <a:avLst/>
              <a:gdLst/>
              <a:ahLst/>
              <a:cxnLst/>
              <a:rect l="l" t="t" r="r" b="b"/>
              <a:pathLst>
                <a:path w="16648176" h="304800">
                  <a:moveTo>
                    <a:pt x="0" y="0"/>
                  </a:moveTo>
                  <a:lnTo>
                    <a:pt x="16648176" y="0"/>
                  </a:lnTo>
                  <a:lnTo>
                    <a:pt x="16648176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533400" y="562356"/>
            <a:ext cx="4114800" cy="609600"/>
          </a:xfrm>
          <a:custGeom>
            <a:avLst/>
            <a:gdLst/>
            <a:ahLst/>
            <a:cxnLst/>
            <a:rect l="l" t="t" r="r" b="b"/>
            <a:pathLst>
              <a:path w="4114800" h="609600">
                <a:moveTo>
                  <a:pt x="0" y="0"/>
                </a:moveTo>
                <a:lnTo>
                  <a:pt x="4114800" y="0"/>
                </a:lnTo>
                <a:lnTo>
                  <a:pt x="4114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257045" y="2421922"/>
            <a:ext cx="12009139" cy="703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81"/>
              </a:lnSpc>
            </a:pPr>
            <a:r>
              <a:rPr lang="en-US" sz="4058" b="1" i="1">
                <a:solidFill>
                  <a:srgbClr val="0F172A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An Overview of Machine Learning (Core Engine)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414902" y="6335744"/>
            <a:ext cx="1263672" cy="471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learned.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414902" y="4103970"/>
            <a:ext cx="13511746" cy="2157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95"/>
              </a:lnSpc>
            </a:pPr>
            <a:r>
              <a:rPr lang="en-US" sz="2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You can think of machine learning as </a:t>
            </a:r>
            <a:r>
              <a:rPr lang="en-US" sz="2700" b="1" i="1">
                <a:solidFill>
                  <a:srgbClr val="334155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training a model to make decisions from data</a:t>
            </a:r>
            <a:r>
              <a:rPr lang="en-US" sz="2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. Instead of relying only on </a:t>
            </a:r>
            <a:r>
              <a:rPr lang="en-US" sz="2700" b="1" i="1">
                <a:solidFill>
                  <a:srgbClr val="334155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fixed, handwritten rules</a:t>
            </a:r>
            <a:r>
              <a:rPr lang="en-US" sz="2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, the model </a:t>
            </a:r>
            <a:r>
              <a:rPr lang="en-US" sz="2700" b="1" i="1">
                <a:solidFill>
                  <a:srgbClr val="334155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learns patterns from examples</a:t>
            </a:r>
            <a:r>
              <a:rPr lang="en-US" sz="2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and improves as it is </a:t>
            </a:r>
            <a:r>
              <a:rPr lang="en-US" sz="2700" b="1" i="1">
                <a:solidFill>
                  <a:srgbClr val="334155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trained and evaluated</a:t>
            </a:r>
            <a:r>
              <a:rPr lang="en-US" sz="2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. Once trained, it can </a:t>
            </a:r>
            <a:r>
              <a:rPr lang="en-US" sz="2700" b="1" i="1">
                <a:solidFill>
                  <a:srgbClr val="334155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make predictions</a:t>
            </a:r>
            <a:r>
              <a:rPr lang="en-US" sz="2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700" b="1" i="1">
                <a:solidFill>
                  <a:srgbClr val="334155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classify inputs</a:t>
            </a:r>
            <a:r>
              <a:rPr lang="en-US" sz="2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700" b="1" i="1">
                <a:solidFill>
                  <a:srgbClr val="334155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find trends</a:t>
            </a:r>
            <a:r>
              <a:rPr lang="en-US" sz="2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, or </a:t>
            </a:r>
            <a:r>
              <a:rPr lang="en-US" sz="2700" b="1" i="1">
                <a:solidFill>
                  <a:srgbClr val="334155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flag unusual cases</a:t>
            </a:r>
            <a:r>
              <a:rPr lang="en-US" sz="2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based on what it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86099" y="9039092"/>
            <a:ext cx="1891255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i="1">
                <a:solidFill>
                  <a:srgbClr val="475569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Data Decisioning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82040" y="678713"/>
            <a:ext cx="3122276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i="1">
                <a:solidFill>
                  <a:srgbClr val="0F172A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AI UNLOCKED: SECTION 02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986910" y="9039092"/>
            <a:ext cx="1851850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i="1">
                <a:solidFill>
                  <a:srgbClr val="475569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Pattern Learning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30686" y="9039092"/>
            <a:ext cx="2533879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i="1">
                <a:solidFill>
                  <a:srgbClr val="475569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Continuous Evaluation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374368" y="9039092"/>
            <a:ext cx="2093033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i="1">
                <a:solidFill>
                  <a:srgbClr val="475569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Multi-Output Tasks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96" y="99060"/>
            <a:ext cx="18281904" cy="10187940"/>
            <a:chOff x="0" y="0"/>
            <a:chExt cx="24375872" cy="135839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75872" cy="13583920"/>
            </a:xfrm>
            <a:custGeom>
              <a:avLst/>
              <a:gdLst/>
              <a:ahLst/>
              <a:cxnLst/>
              <a:rect l="l" t="t" r="r" b="b"/>
              <a:pathLst>
                <a:path w="24375872" h="13583920">
                  <a:moveTo>
                    <a:pt x="0" y="0"/>
                  </a:moveTo>
                  <a:lnTo>
                    <a:pt x="24375872" y="0"/>
                  </a:lnTo>
                  <a:lnTo>
                    <a:pt x="24375872" y="13583920"/>
                  </a:lnTo>
                  <a:lnTo>
                    <a:pt x="0" y="13583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715" t="-4688" r="-3342" b="-762"/>
              </a:stretch>
            </a:blipFill>
          </p:spPr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1143000" y="8179308"/>
            <a:ext cx="914400" cy="56388"/>
          </a:xfrm>
          <a:custGeom>
            <a:avLst/>
            <a:gdLst/>
            <a:ahLst/>
            <a:cxnLst/>
            <a:rect l="l" t="t" r="r" b="b"/>
            <a:pathLst>
              <a:path w="914400" h="56388">
                <a:moveTo>
                  <a:pt x="0" y="0"/>
                </a:moveTo>
                <a:lnTo>
                  <a:pt x="914400" y="0"/>
                </a:lnTo>
                <a:lnTo>
                  <a:pt x="914400" y="56388"/>
                </a:lnTo>
                <a:lnTo>
                  <a:pt x="0" y="563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947909" y="2861053"/>
            <a:ext cx="8265157" cy="4564885"/>
          </a:xfrm>
          <a:custGeom>
            <a:avLst/>
            <a:gdLst/>
            <a:ahLst/>
            <a:cxnLst/>
            <a:rect l="l" t="t" r="r" b="b"/>
            <a:pathLst>
              <a:path w="8265157" h="4564885">
                <a:moveTo>
                  <a:pt x="0" y="0"/>
                </a:moveTo>
                <a:lnTo>
                  <a:pt x="8265157" y="0"/>
                </a:lnTo>
                <a:lnTo>
                  <a:pt x="8265157" y="4564885"/>
                </a:lnTo>
                <a:lnTo>
                  <a:pt x="0" y="45648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2950952" y="4128516"/>
            <a:ext cx="257556" cy="286512"/>
            <a:chOff x="0" y="0"/>
            <a:chExt cx="343408" cy="38201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43408" cy="382016"/>
            </a:xfrm>
            <a:custGeom>
              <a:avLst/>
              <a:gdLst/>
              <a:ahLst/>
              <a:cxnLst/>
              <a:rect l="l" t="t" r="r" b="b"/>
              <a:pathLst>
                <a:path w="343408" h="382016">
                  <a:moveTo>
                    <a:pt x="0" y="0"/>
                  </a:moveTo>
                  <a:lnTo>
                    <a:pt x="343408" y="0"/>
                  </a:lnTo>
                  <a:lnTo>
                    <a:pt x="343408" y="382016"/>
                  </a:lnTo>
                  <a:lnTo>
                    <a:pt x="0" y="3820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2973812" y="5257800"/>
            <a:ext cx="213360" cy="286512"/>
            <a:chOff x="0" y="0"/>
            <a:chExt cx="284480" cy="38201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84480" cy="382016"/>
            </a:xfrm>
            <a:custGeom>
              <a:avLst/>
              <a:gdLst/>
              <a:ahLst/>
              <a:cxnLst/>
              <a:rect l="l" t="t" r="r" b="b"/>
              <a:pathLst>
                <a:path w="284480" h="382016">
                  <a:moveTo>
                    <a:pt x="0" y="0"/>
                  </a:moveTo>
                  <a:lnTo>
                    <a:pt x="284480" y="0"/>
                  </a:lnTo>
                  <a:lnTo>
                    <a:pt x="284480" y="382016"/>
                  </a:lnTo>
                  <a:lnTo>
                    <a:pt x="0" y="3820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9957816" y="3872484"/>
            <a:ext cx="2407920" cy="342900"/>
            <a:chOff x="0" y="0"/>
            <a:chExt cx="3210560" cy="457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210560" cy="457200"/>
            </a:xfrm>
            <a:custGeom>
              <a:avLst/>
              <a:gdLst/>
              <a:ahLst/>
              <a:cxnLst/>
              <a:rect l="l" t="t" r="r" b="b"/>
              <a:pathLst>
                <a:path w="3210560" h="457200">
                  <a:moveTo>
                    <a:pt x="0" y="0"/>
                  </a:moveTo>
                  <a:lnTo>
                    <a:pt x="3210560" y="0"/>
                  </a:lnTo>
                  <a:lnTo>
                    <a:pt x="321056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3795248" y="3872484"/>
            <a:ext cx="2406396" cy="342900"/>
            <a:chOff x="0" y="0"/>
            <a:chExt cx="3208528" cy="457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208528" cy="457200"/>
            </a:xfrm>
            <a:custGeom>
              <a:avLst/>
              <a:gdLst/>
              <a:ahLst/>
              <a:cxnLst/>
              <a:rect l="l" t="t" r="r" b="b"/>
              <a:pathLst>
                <a:path w="3208528" h="457200">
                  <a:moveTo>
                    <a:pt x="0" y="0"/>
                  </a:moveTo>
                  <a:lnTo>
                    <a:pt x="3208528" y="0"/>
                  </a:lnTo>
                  <a:lnTo>
                    <a:pt x="3208528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14087856" y="6158484"/>
            <a:ext cx="284988" cy="228600"/>
            <a:chOff x="0" y="0"/>
            <a:chExt cx="379984" cy="304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79984" cy="304800"/>
            </a:xfrm>
            <a:custGeom>
              <a:avLst/>
              <a:gdLst/>
              <a:ahLst/>
              <a:cxnLst/>
              <a:rect l="l" t="t" r="r" b="b"/>
              <a:pathLst>
                <a:path w="379984" h="304800">
                  <a:moveTo>
                    <a:pt x="0" y="0"/>
                  </a:moveTo>
                  <a:lnTo>
                    <a:pt x="379984" y="0"/>
                  </a:lnTo>
                  <a:lnTo>
                    <a:pt x="379984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1143000" y="1926260"/>
            <a:ext cx="5029991" cy="378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94"/>
              </a:lnSpc>
            </a:pPr>
            <a:r>
              <a:rPr lang="en-US" sz="7202" b="1" i="1">
                <a:solidFill>
                  <a:srgbClr val="FFFFFF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What is Supervised Learning?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477033" y="6028249"/>
            <a:ext cx="97317" cy="471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3"/>
              </a:lnSpc>
            </a:pPr>
            <a:r>
              <a:rPr lang="en-US" sz="2702">
                <a:solidFill>
                  <a:srgbClr val="A3A3A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43000" y="6028249"/>
            <a:ext cx="6489573" cy="471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3"/>
              </a:lnSpc>
            </a:pPr>
            <a:r>
              <a:rPr lang="en-US" sz="2702">
                <a:solidFill>
                  <a:srgbClr val="A3A3A3"/>
                </a:solidFill>
                <a:latin typeface="Arial"/>
                <a:ea typeface="Arial"/>
                <a:cs typeface="Arial"/>
                <a:sym typeface="Arial"/>
              </a:rPr>
              <a:t>Learningwithateacher.Trainingamodel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43000" y="6500974"/>
            <a:ext cx="6160637" cy="963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04"/>
              </a:lnSpc>
            </a:pPr>
            <a:r>
              <a:rPr lang="en-US" sz="2700">
                <a:solidFill>
                  <a:srgbClr val="A3A3A3"/>
                </a:solidFill>
                <a:latin typeface="Arial"/>
                <a:ea typeface="Arial"/>
                <a:cs typeface="Arial"/>
                <a:sym typeface="Arial"/>
              </a:rPr>
              <a:t>using</a:t>
            </a:r>
            <a:r>
              <a:rPr lang="en-US" sz="2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00">
                <a:solidFill>
                  <a:srgbClr val="A3A3A3"/>
                </a:solidFill>
                <a:latin typeface="Arial"/>
                <a:ea typeface="Arial"/>
                <a:cs typeface="Arial"/>
                <a:sym typeface="Arial"/>
              </a:rPr>
              <a:t>examples</a:t>
            </a:r>
            <a:r>
              <a:rPr lang="en-US" sz="2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00">
                <a:solidFill>
                  <a:srgbClr val="A3A3A3"/>
                </a:solidFill>
                <a:latin typeface="Arial"/>
                <a:ea typeface="Arial"/>
                <a:cs typeface="Arial"/>
                <a:sym typeface="Arial"/>
              </a:rPr>
              <a:t>paired</a:t>
            </a:r>
            <a:r>
              <a:rPr lang="en-US" sz="2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00">
                <a:solidFill>
                  <a:srgbClr val="A3A3A3"/>
                </a:solidFill>
                <a:latin typeface="Arial"/>
                <a:ea typeface="Arial"/>
                <a:cs typeface="Arial"/>
                <a:sym typeface="Arial"/>
              </a:rPr>
              <a:t>with</a:t>
            </a:r>
            <a:r>
              <a:rPr lang="en-US" sz="2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00">
                <a:solidFill>
                  <a:srgbClr val="A3A3A3"/>
                </a:solidFill>
                <a:latin typeface="Arial"/>
                <a:ea typeface="Arial"/>
                <a:cs typeface="Arial"/>
                <a:sym typeface="Arial"/>
              </a:rPr>
              <a:t>their</a:t>
            </a:r>
            <a:r>
              <a:rPr lang="en-US" sz="2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00">
                <a:solidFill>
                  <a:srgbClr val="A3A3A3"/>
                </a:solidFill>
                <a:latin typeface="Arial"/>
                <a:ea typeface="Arial"/>
                <a:cs typeface="Arial"/>
                <a:sym typeface="Arial"/>
              </a:rPr>
              <a:t>correct answers.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959340" y="6081036"/>
            <a:ext cx="1139742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i="1">
                <a:solidFill>
                  <a:srgbClr val="FFFFFF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Prediction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453116" y="4337837"/>
            <a:ext cx="1449162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i="1">
                <a:solidFill>
                  <a:srgbClr val="FFFFFF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Labeled Data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522453" y="4337837"/>
            <a:ext cx="972798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i="1" spc="1">
                <a:solidFill>
                  <a:srgbClr val="76B9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AI Model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602968" y="6111888"/>
            <a:ext cx="1528705" cy="283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1572">
                <a:solidFill>
                  <a:srgbClr val="A3A3A3"/>
                </a:solidFill>
                <a:latin typeface="Arial"/>
                <a:ea typeface="Arial"/>
                <a:cs typeface="Arial"/>
                <a:sym typeface="Arial"/>
              </a:rPr>
              <a:t>Compare to truth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43000" y="8630412"/>
            <a:ext cx="16002000" cy="742188"/>
          </a:xfrm>
          <a:custGeom>
            <a:avLst/>
            <a:gdLst/>
            <a:ahLst/>
            <a:cxnLst/>
            <a:rect l="l" t="t" r="r" b="b"/>
            <a:pathLst>
              <a:path w="16002000" h="742188">
                <a:moveTo>
                  <a:pt x="0" y="0"/>
                </a:moveTo>
                <a:lnTo>
                  <a:pt x="16002000" y="0"/>
                </a:lnTo>
                <a:lnTo>
                  <a:pt x="16002000" y="742188"/>
                </a:lnTo>
                <a:lnTo>
                  <a:pt x="0" y="7421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058412" y="5436108"/>
            <a:ext cx="10172700" cy="286512"/>
            <a:chOff x="0" y="0"/>
            <a:chExt cx="13563600" cy="38201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563600" cy="382016"/>
            </a:xfrm>
            <a:custGeom>
              <a:avLst/>
              <a:gdLst/>
              <a:ahLst/>
              <a:cxnLst/>
              <a:rect l="l" t="t" r="r" b="b"/>
              <a:pathLst>
                <a:path w="13563600" h="382016">
                  <a:moveTo>
                    <a:pt x="0" y="0"/>
                  </a:moveTo>
                  <a:lnTo>
                    <a:pt x="13563600" y="0"/>
                  </a:lnTo>
                  <a:lnTo>
                    <a:pt x="13563600" y="382016"/>
                  </a:lnTo>
                  <a:lnTo>
                    <a:pt x="0" y="3820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1914144" y="4492752"/>
            <a:ext cx="1143000" cy="1143000"/>
            <a:chOff x="0" y="0"/>
            <a:chExt cx="1524000" cy="1524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24000" cy="1524000"/>
            </a:xfrm>
            <a:custGeom>
              <a:avLst/>
              <a:gdLst/>
              <a:ahLst/>
              <a:cxnLst/>
              <a:rect l="l" t="t" r="r" b="b"/>
              <a:pathLst>
                <a:path w="1524000" h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1524000"/>
                  </a:lnTo>
                  <a:lnTo>
                    <a:pt x="0" y="152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5244084" y="4492752"/>
            <a:ext cx="1143000" cy="1143000"/>
            <a:chOff x="0" y="0"/>
            <a:chExt cx="1524000" cy="1524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24000" cy="1524000"/>
            </a:xfrm>
            <a:custGeom>
              <a:avLst/>
              <a:gdLst/>
              <a:ahLst/>
              <a:cxnLst/>
              <a:rect l="l" t="t" r="r" b="b"/>
              <a:pathLst>
                <a:path w="1524000" h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1524000"/>
                  </a:lnTo>
                  <a:lnTo>
                    <a:pt x="0" y="152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8572500" y="4492752"/>
            <a:ext cx="1143000" cy="1143000"/>
            <a:chOff x="0" y="0"/>
            <a:chExt cx="1524000" cy="1524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24000" cy="1524000"/>
            </a:xfrm>
            <a:custGeom>
              <a:avLst/>
              <a:gdLst/>
              <a:ahLst/>
              <a:cxnLst/>
              <a:rect l="l" t="t" r="r" b="b"/>
              <a:pathLst>
                <a:path w="1524000" h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1524000"/>
                  </a:lnTo>
                  <a:lnTo>
                    <a:pt x="0" y="152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1900916" y="4492752"/>
            <a:ext cx="1143000" cy="1143000"/>
            <a:chOff x="0" y="0"/>
            <a:chExt cx="1524000" cy="1524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24000" cy="1524000"/>
            </a:xfrm>
            <a:custGeom>
              <a:avLst/>
              <a:gdLst/>
              <a:ahLst/>
              <a:cxnLst/>
              <a:rect l="l" t="t" r="r" b="b"/>
              <a:pathLst>
                <a:path w="1524000" h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1524000"/>
                  </a:lnTo>
                  <a:lnTo>
                    <a:pt x="0" y="152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15230856" y="4492752"/>
            <a:ext cx="1143000" cy="1143000"/>
            <a:chOff x="0" y="0"/>
            <a:chExt cx="1524000" cy="1524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524000" cy="1524000"/>
            </a:xfrm>
            <a:custGeom>
              <a:avLst/>
              <a:gdLst/>
              <a:ahLst/>
              <a:cxnLst/>
              <a:rect l="l" t="t" r="r" b="b"/>
              <a:pathLst>
                <a:path w="1524000" h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1524000"/>
                  </a:lnTo>
                  <a:lnTo>
                    <a:pt x="0" y="152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5436108" y="8886444"/>
            <a:ext cx="228600" cy="228600"/>
            <a:chOff x="0" y="0"/>
            <a:chExt cx="304800" cy="304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2314956" y="4893564"/>
            <a:ext cx="342900" cy="342900"/>
            <a:chOff x="0" y="0"/>
            <a:chExt cx="457200" cy="4572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5643372" y="4893564"/>
            <a:ext cx="342900" cy="342900"/>
            <a:chOff x="0" y="0"/>
            <a:chExt cx="457200" cy="457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</p:grpSp>
      <p:grpSp>
        <p:nvGrpSpPr>
          <p:cNvPr id="21" name="Group 21"/>
          <p:cNvGrpSpPr/>
          <p:nvPr/>
        </p:nvGrpSpPr>
        <p:grpSpPr>
          <a:xfrm>
            <a:off x="8994648" y="4893564"/>
            <a:ext cx="298704" cy="342900"/>
            <a:chOff x="0" y="0"/>
            <a:chExt cx="398272" cy="4572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98272" cy="457200"/>
            </a:xfrm>
            <a:custGeom>
              <a:avLst/>
              <a:gdLst/>
              <a:ahLst/>
              <a:cxnLst/>
              <a:rect l="l" t="t" r="r" b="b"/>
              <a:pathLst>
                <a:path w="398272" h="457200">
                  <a:moveTo>
                    <a:pt x="0" y="0"/>
                  </a:moveTo>
                  <a:lnTo>
                    <a:pt x="398272" y="0"/>
                  </a:lnTo>
                  <a:lnTo>
                    <a:pt x="398272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</p:grpSp>
      <p:grpSp>
        <p:nvGrpSpPr>
          <p:cNvPr id="23" name="Group 23"/>
          <p:cNvGrpSpPr/>
          <p:nvPr/>
        </p:nvGrpSpPr>
        <p:grpSpPr>
          <a:xfrm>
            <a:off x="12301728" y="4893564"/>
            <a:ext cx="342900" cy="342900"/>
            <a:chOff x="0" y="0"/>
            <a:chExt cx="457200" cy="4572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</p:sp>
      </p:grpSp>
      <p:grpSp>
        <p:nvGrpSpPr>
          <p:cNvPr id="25" name="Group 25"/>
          <p:cNvGrpSpPr/>
          <p:nvPr/>
        </p:nvGrpSpPr>
        <p:grpSpPr>
          <a:xfrm>
            <a:off x="15630144" y="4893564"/>
            <a:ext cx="342900" cy="342900"/>
            <a:chOff x="0" y="0"/>
            <a:chExt cx="457200" cy="4572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/>
              </a:stretch>
            </a:blipFill>
          </p:spPr>
        </p:sp>
      </p:grpSp>
      <p:sp>
        <p:nvSpPr>
          <p:cNvPr id="27" name="TextBox 27"/>
          <p:cNvSpPr txBox="1"/>
          <p:nvPr/>
        </p:nvSpPr>
        <p:spPr>
          <a:xfrm>
            <a:off x="1654807" y="6383160"/>
            <a:ext cx="1695279" cy="283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1572" spc="1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Features + Labels.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948428" y="6383160"/>
            <a:ext cx="1766754" cy="283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1572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Makes a prediction.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264014" y="6383160"/>
            <a:ext cx="1796482" cy="283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1572" spc="1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Model's best guess.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696700" y="6383160"/>
            <a:ext cx="1585312" cy="283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1572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Compare to truth.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963899" y="6383160"/>
            <a:ext cx="1711166" cy="283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1572" spc="1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Adjust parameters.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43000" y="884311"/>
            <a:ext cx="9088460" cy="1141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2"/>
              </a:lnSpc>
            </a:pPr>
            <a:r>
              <a:rPr lang="en-US" sz="1572" b="1" i="1">
                <a:solidFill>
                  <a:srgbClr val="0F172A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THE MECHANICS</a:t>
            </a:r>
          </a:p>
          <a:p>
            <a:pPr algn="l">
              <a:lnSpc>
                <a:spcPts val="6219"/>
              </a:lnSpc>
            </a:pPr>
            <a:r>
              <a:rPr lang="en-US" sz="4500" b="1" i="1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How Supervised Learning Works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045965" y="8810492"/>
            <a:ext cx="6669186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Process repeats iteratively until the model learns useful patterns.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671571" y="5826538"/>
            <a:ext cx="1662151" cy="351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9"/>
              </a:lnSpc>
            </a:pPr>
            <a:r>
              <a:rPr lang="en-US" sz="2028" b="1" i="1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Training Data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277869" y="5826538"/>
            <a:ext cx="1094699" cy="351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9"/>
              </a:lnSpc>
            </a:pPr>
            <a:r>
              <a:rPr lang="en-US" sz="2028" b="1" i="1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AI Model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515226" y="5826538"/>
            <a:ext cx="1284113" cy="351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9"/>
              </a:lnSpc>
            </a:pPr>
            <a:r>
              <a:rPr lang="en-US" sz="2028" b="1" i="1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Prediction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821411" y="5826538"/>
            <a:ext cx="1328509" cy="351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9"/>
              </a:lnSpc>
            </a:pPr>
            <a:r>
              <a:rPr lang="en-US" sz="2028" b="1" i="1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Loss/Error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5366492" y="5826538"/>
            <a:ext cx="889530" cy="351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9"/>
              </a:lnSpc>
            </a:pPr>
            <a:r>
              <a:rPr lang="en-US" sz="2028" b="1" i="1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Update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9497" y="2265169"/>
            <a:ext cx="7785097" cy="7170925"/>
          </a:xfrm>
          <a:custGeom>
            <a:avLst/>
            <a:gdLst/>
            <a:ahLst/>
            <a:cxnLst/>
            <a:rect l="l" t="t" r="r" b="b"/>
            <a:pathLst>
              <a:path w="7785097" h="7170925">
                <a:moveTo>
                  <a:pt x="0" y="0"/>
                </a:moveTo>
                <a:lnTo>
                  <a:pt x="7785097" y="0"/>
                </a:lnTo>
                <a:lnTo>
                  <a:pt x="7785097" y="7170925"/>
                </a:lnTo>
                <a:lnTo>
                  <a:pt x="0" y="71709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423397" y="2265169"/>
            <a:ext cx="7785097" cy="7170925"/>
          </a:xfrm>
          <a:custGeom>
            <a:avLst/>
            <a:gdLst/>
            <a:ahLst/>
            <a:cxnLst/>
            <a:rect l="l" t="t" r="r" b="b"/>
            <a:pathLst>
              <a:path w="7785097" h="7170925">
                <a:moveTo>
                  <a:pt x="0" y="0"/>
                </a:moveTo>
                <a:lnTo>
                  <a:pt x="7785097" y="0"/>
                </a:lnTo>
                <a:lnTo>
                  <a:pt x="7785097" y="7170925"/>
                </a:lnTo>
                <a:lnTo>
                  <a:pt x="0" y="71709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3774948" y="4922520"/>
            <a:ext cx="199644" cy="228600"/>
            <a:chOff x="0" y="0"/>
            <a:chExt cx="266192" cy="304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66192" cy="304800"/>
            </a:xfrm>
            <a:custGeom>
              <a:avLst/>
              <a:gdLst/>
              <a:ahLst/>
              <a:cxnLst/>
              <a:rect l="l" t="t" r="r" b="b"/>
              <a:pathLst>
                <a:path w="266192" h="304800">
                  <a:moveTo>
                    <a:pt x="0" y="0"/>
                  </a:moveTo>
                  <a:lnTo>
                    <a:pt x="266192" y="0"/>
                  </a:lnTo>
                  <a:lnTo>
                    <a:pt x="266192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3010388" y="4949952"/>
            <a:ext cx="199644" cy="228600"/>
            <a:chOff x="0" y="0"/>
            <a:chExt cx="266192" cy="304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66192" cy="304800"/>
            </a:xfrm>
            <a:custGeom>
              <a:avLst/>
              <a:gdLst/>
              <a:ahLst/>
              <a:cxnLst/>
              <a:rect l="l" t="t" r="r" b="b"/>
              <a:pathLst>
                <a:path w="266192" h="304800">
                  <a:moveTo>
                    <a:pt x="0" y="0"/>
                  </a:moveTo>
                  <a:lnTo>
                    <a:pt x="266192" y="0"/>
                  </a:lnTo>
                  <a:lnTo>
                    <a:pt x="266192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828800" y="6022848"/>
            <a:ext cx="199644" cy="1284732"/>
            <a:chOff x="0" y="0"/>
            <a:chExt cx="266192" cy="171297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66192" cy="1712976"/>
            </a:xfrm>
            <a:custGeom>
              <a:avLst/>
              <a:gdLst/>
              <a:ahLst/>
              <a:cxnLst/>
              <a:rect l="l" t="t" r="r" b="b"/>
              <a:pathLst>
                <a:path w="266192" h="1712976">
                  <a:moveTo>
                    <a:pt x="0" y="0"/>
                  </a:moveTo>
                  <a:lnTo>
                    <a:pt x="266192" y="0"/>
                  </a:lnTo>
                  <a:lnTo>
                    <a:pt x="266192" y="1712976"/>
                  </a:lnTo>
                  <a:lnTo>
                    <a:pt x="0" y="17129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0172700" y="6050280"/>
            <a:ext cx="199644" cy="1286256"/>
            <a:chOff x="0" y="0"/>
            <a:chExt cx="266192" cy="171500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66192" cy="1715008"/>
            </a:xfrm>
            <a:custGeom>
              <a:avLst/>
              <a:gdLst/>
              <a:ahLst/>
              <a:cxnLst/>
              <a:rect l="l" t="t" r="r" b="b"/>
              <a:pathLst>
                <a:path w="266192" h="1715008">
                  <a:moveTo>
                    <a:pt x="0" y="0"/>
                  </a:moveTo>
                  <a:lnTo>
                    <a:pt x="266192" y="0"/>
                  </a:lnTo>
                  <a:lnTo>
                    <a:pt x="266192" y="1715008"/>
                  </a:lnTo>
                  <a:lnTo>
                    <a:pt x="0" y="17150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6369434" y="829932"/>
            <a:ext cx="5659088" cy="778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1" i="1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Two Major Branches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00374" y="3124419"/>
            <a:ext cx="1447762" cy="241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8"/>
              </a:lnSpc>
            </a:pPr>
            <a:r>
              <a:rPr lang="en-US" sz="1355" b="1" i="1">
                <a:solidFill>
                  <a:srgbClr val="1E40AF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CLASSIFICATION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344912" y="3124419"/>
            <a:ext cx="1169518" cy="241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8"/>
              </a:lnSpc>
            </a:pPr>
            <a:r>
              <a:rPr lang="en-US" sz="1355" b="1" i="1">
                <a:solidFill>
                  <a:srgbClr val="3A5C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REGRESSION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829057" y="3727942"/>
            <a:ext cx="3850348" cy="558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8"/>
              </a:lnSpc>
            </a:pPr>
            <a:r>
              <a:rPr lang="en-US" sz="3156" b="1" i="1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Predicts a category.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173586" y="3756108"/>
            <a:ext cx="5262353" cy="558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21"/>
              </a:lnSpc>
            </a:pPr>
            <a:r>
              <a:rPr lang="en-US" sz="3158" b="1" i="1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Predicts a numerical value.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860291" y="4851768"/>
            <a:ext cx="517398" cy="327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3"/>
              </a:lnSpc>
            </a:pPr>
            <a:r>
              <a:rPr lang="en-US" sz="1802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203449" y="4851768"/>
            <a:ext cx="2171624" cy="327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3"/>
              </a:lnSpc>
            </a:pPr>
            <a:r>
              <a:rPr lang="en-US" sz="1802" b="1" i="1">
                <a:solidFill>
                  <a:srgbClr val="1E40AF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[ Class A | Class B ]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029082" y="5819518"/>
            <a:ext cx="2844298" cy="1533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68"/>
              </a:lnSpc>
            </a:pPr>
            <a:r>
              <a:rPr lang="en-US" sz="2030" b="1" i="1">
                <a:solidFill>
                  <a:srgbClr val="525252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Spam vs Not Spam Fraud vs Legitimate Disease vs No Disease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373611" y="7029326"/>
            <a:ext cx="2910554" cy="351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2"/>
              </a:lnSpc>
            </a:pPr>
            <a:r>
              <a:rPr lang="en-US" sz="2030" b="1" i="1">
                <a:solidFill>
                  <a:srgbClr val="525252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Temperature prediction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373611" y="5848379"/>
            <a:ext cx="2842222" cy="1004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63"/>
              </a:lnSpc>
            </a:pPr>
            <a:r>
              <a:rPr lang="en-US" sz="2028" b="1" i="1">
                <a:solidFill>
                  <a:srgbClr val="525252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House price prediction Sales forecasting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096626" y="4880762"/>
            <a:ext cx="517874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439899" y="4880762"/>
            <a:ext cx="737997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i="1">
                <a:solidFill>
                  <a:srgbClr val="3A5C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[ 72.4 ]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130284" y="6257544"/>
            <a:ext cx="27432" cy="457200"/>
          </a:xfrm>
          <a:custGeom>
            <a:avLst/>
            <a:gdLst/>
            <a:ahLst/>
            <a:cxnLst/>
            <a:rect l="l" t="t" r="r" b="b"/>
            <a:pathLst>
              <a:path w="27432" h="457200">
                <a:moveTo>
                  <a:pt x="0" y="0"/>
                </a:moveTo>
                <a:lnTo>
                  <a:pt x="27432" y="0"/>
                </a:lnTo>
                <a:lnTo>
                  <a:pt x="27432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356353" y="6984997"/>
            <a:ext cx="11576809" cy="2990593"/>
          </a:xfrm>
          <a:custGeom>
            <a:avLst/>
            <a:gdLst/>
            <a:ahLst/>
            <a:cxnLst/>
            <a:rect l="l" t="t" r="r" b="b"/>
            <a:pathLst>
              <a:path w="11576809" h="2990593">
                <a:moveTo>
                  <a:pt x="0" y="0"/>
                </a:moveTo>
                <a:lnTo>
                  <a:pt x="11576809" y="0"/>
                </a:lnTo>
                <a:lnTo>
                  <a:pt x="11576809" y="2990593"/>
                </a:lnTo>
                <a:lnTo>
                  <a:pt x="0" y="29905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360925" y="3876037"/>
            <a:ext cx="11566141" cy="1006345"/>
          </a:xfrm>
          <a:custGeom>
            <a:avLst/>
            <a:gdLst/>
            <a:ahLst/>
            <a:cxnLst/>
            <a:rect l="l" t="t" r="r" b="b"/>
            <a:pathLst>
              <a:path w="11566141" h="1006345">
                <a:moveTo>
                  <a:pt x="0" y="0"/>
                </a:moveTo>
                <a:lnTo>
                  <a:pt x="11566141" y="0"/>
                </a:lnTo>
                <a:lnTo>
                  <a:pt x="11566141" y="1006345"/>
                </a:lnTo>
                <a:lnTo>
                  <a:pt x="0" y="1006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3360925" y="2775709"/>
            <a:ext cx="11566141" cy="1007869"/>
          </a:xfrm>
          <a:custGeom>
            <a:avLst/>
            <a:gdLst/>
            <a:ahLst/>
            <a:cxnLst/>
            <a:rect l="l" t="t" r="r" b="b"/>
            <a:pathLst>
              <a:path w="11566141" h="1007869">
                <a:moveTo>
                  <a:pt x="0" y="0"/>
                </a:moveTo>
                <a:lnTo>
                  <a:pt x="11566141" y="0"/>
                </a:lnTo>
                <a:lnTo>
                  <a:pt x="11566141" y="1007869"/>
                </a:lnTo>
                <a:lnTo>
                  <a:pt x="0" y="100786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360925" y="4974841"/>
            <a:ext cx="11566141" cy="1007869"/>
          </a:xfrm>
          <a:custGeom>
            <a:avLst/>
            <a:gdLst/>
            <a:ahLst/>
            <a:cxnLst/>
            <a:rect l="l" t="t" r="r" b="b"/>
            <a:pathLst>
              <a:path w="11566141" h="1007869">
                <a:moveTo>
                  <a:pt x="0" y="0"/>
                </a:moveTo>
                <a:lnTo>
                  <a:pt x="11566141" y="0"/>
                </a:lnTo>
                <a:lnTo>
                  <a:pt x="11566141" y="1007869"/>
                </a:lnTo>
                <a:lnTo>
                  <a:pt x="0" y="100786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8258556" y="8979408"/>
            <a:ext cx="300228" cy="342900"/>
            <a:chOff x="0" y="0"/>
            <a:chExt cx="400304" cy="4572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0304" cy="457200"/>
            </a:xfrm>
            <a:custGeom>
              <a:avLst/>
              <a:gdLst/>
              <a:ahLst/>
              <a:cxnLst/>
              <a:rect l="l" t="t" r="r" b="b"/>
              <a:pathLst>
                <a:path w="400304" h="457200">
                  <a:moveTo>
                    <a:pt x="0" y="0"/>
                  </a:moveTo>
                  <a:lnTo>
                    <a:pt x="400304" y="0"/>
                  </a:lnTo>
                  <a:lnTo>
                    <a:pt x="400304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1143000" y="829932"/>
            <a:ext cx="7158961" cy="778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1" i="1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Example: Spam Detection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258968" y="1766230"/>
            <a:ext cx="81239" cy="395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256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43000" y="1766230"/>
            <a:ext cx="5362937" cy="395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256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Learningpatternsfromlabeledexamples.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115938" y="7505205"/>
            <a:ext cx="2066306" cy="283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1572" b="1" i="1">
                <a:solidFill>
                  <a:srgbClr val="64748B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NEW UNSEEN EMAIL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901185" y="7961852"/>
            <a:ext cx="6175334" cy="471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"URGENT: Click here to claim your gift!"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86502" y="5290728"/>
            <a:ext cx="4094293" cy="351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9"/>
              </a:lnSpc>
            </a:pPr>
            <a:r>
              <a:rPr lang="en-US" sz="2028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"Claim your exclusive reward now!"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786502" y="3090072"/>
            <a:ext cx="4095340" cy="351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9"/>
              </a:lnSpc>
            </a:pPr>
            <a:r>
              <a:rPr lang="en-US" sz="2028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"Congratulations! You won a prize!"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786502" y="4190400"/>
            <a:ext cx="4809115" cy="351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9"/>
              </a:lnSpc>
            </a:pPr>
            <a:r>
              <a:rPr lang="en-US" sz="2028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"Meeting scheduled for 10 AM tomorrow."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016241" y="8963235"/>
            <a:ext cx="739521" cy="351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9"/>
              </a:lnSpc>
            </a:pPr>
            <a:r>
              <a:rPr lang="en-US" sz="2028" b="1" i="1">
                <a:solidFill>
                  <a:srgbClr val="991B1B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SPAM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360022" y="4239101"/>
            <a:ext cx="904808" cy="241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8"/>
              </a:lnSpc>
            </a:pPr>
            <a:r>
              <a:rPr lang="en-US" sz="1355" b="1" i="1">
                <a:solidFill>
                  <a:srgbClr val="166534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NOT SPAM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802868" y="3138773"/>
            <a:ext cx="486747" cy="241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8"/>
              </a:lnSpc>
            </a:pPr>
            <a:r>
              <a:rPr lang="en-US" sz="1355" b="1" i="1">
                <a:solidFill>
                  <a:srgbClr val="991B1B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SPAM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802868" y="5339429"/>
            <a:ext cx="486747" cy="241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8"/>
              </a:lnSpc>
            </a:pPr>
            <a:r>
              <a:rPr lang="en-US" sz="1355" b="1" i="1">
                <a:solidFill>
                  <a:srgbClr val="991B1B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SPAM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661409" y="7017001"/>
            <a:ext cx="12994129" cy="3333493"/>
          </a:xfrm>
          <a:custGeom>
            <a:avLst/>
            <a:gdLst/>
            <a:ahLst/>
            <a:cxnLst/>
            <a:rect l="l" t="t" r="r" b="b"/>
            <a:pathLst>
              <a:path w="12994129" h="3333493">
                <a:moveTo>
                  <a:pt x="0" y="0"/>
                </a:moveTo>
                <a:lnTo>
                  <a:pt x="12994129" y="0"/>
                </a:lnTo>
                <a:lnTo>
                  <a:pt x="12994129" y="3333493"/>
                </a:lnTo>
                <a:lnTo>
                  <a:pt x="0" y="33334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646169" y="2998213"/>
            <a:ext cx="12995653" cy="1207513"/>
          </a:xfrm>
          <a:custGeom>
            <a:avLst/>
            <a:gdLst/>
            <a:ahLst/>
            <a:cxnLst/>
            <a:rect l="l" t="t" r="r" b="b"/>
            <a:pathLst>
              <a:path w="12995653" h="1207513">
                <a:moveTo>
                  <a:pt x="0" y="0"/>
                </a:moveTo>
                <a:lnTo>
                  <a:pt x="12995653" y="0"/>
                </a:lnTo>
                <a:lnTo>
                  <a:pt x="12995653" y="1207513"/>
                </a:lnTo>
                <a:lnTo>
                  <a:pt x="0" y="12075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646169" y="4298185"/>
            <a:ext cx="12995653" cy="1207513"/>
          </a:xfrm>
          <a:custGeom>
            <a:avLst/>
            <a:gdLst/>
            <a:ahLst/>
            <a:cxnLst/>
            <a:rect l="l" t="t" r="r" b="b"/>
            <a:pathLst>
              <a:path w="12995653" h="1207513">
                <a:moveTo>
                  <a:pt x="0" y="0"/>
                </a:moveTo>
                <a:lnTo>
                  <a:pt x="12995653" y="0"/>
                </a:lnTo>
                <a:lnTo>
                  <a:pt x="12995653" y="1207513"/>
                </a:lnTo>
                <a:lnTo>
                  <a:pt x="0" y="12075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646169" y="5598157"/>
            <a:ext cx="12995653" cy="1207513"/>
          </a:xfrm>
          <a:custGeom>
            <a:avLst/>
            <a:gdLst/>
            <a:ahLst/>
            <a:cxnLst/>
            <a:rect l="l" t="t" r="r" b="b"/>
            <a:pathLst>
              <a:path w="12995653" h="1207513">
                <a:moveTo>
                  <a:pt x="0" y="0"/>
                </a:moveTo>
                <a:lnTo>
                  <a:pt x="12995653" y="0"/>
                </a:lnTo>
                <a:lnTo>
                  <a:pt x="12995653" y="1207513"/>
                </a:lnTo>
                <a:lnTo>
                  <a:pt x="0" y="12075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7851648" y="9752076"/>
            <a:ext cx="298704" cy="342900"/>
            <a:chOff x="0" y="0"/>
            <a:chExt cx="398272" cy="457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98272" cy="457200"/>
            </a:xfrm>
            <a:custGeom>
              <a:avLst/>
              <a:gdLst/>
              <a:ahLst/>
              <a:cxnLst/>
              <a:rect l="l" t="t" r="r" b="b"/>
              <a:pathLst>
                <a:path w="398272" h="457200">
                  <a:moveTo>
                    <a:pt x="0" y="0"/>
                  </a:moveTo>
                  <a:lnTo>
                    <a:pt x="398272" y="0"/>
                  </a:lnTo>
                  <a:lnTo>
                    <a:pt x="398272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143000" y="903856"/>
            <a:ext cx="8939079" cy="764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5"/>
              </a:lnSpc>
            </a:pPr>
            <a:r>
              <a:rPr lang="en-US" sz="4404" b="1" i="1">
                <a:solidFill>
                  <a:srgbClr val="1A1A1A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Example: House Price Prediction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668562" y="1911572"/>
            <a:ext cx="97231" cy="471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43000" y="1911572"/>
            <a:ext cx="10959675" cy="471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Predictingcontinuouscontinuousnumericalvaluesfrominput features.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072127" y="4691605"/>
            <a:ext cx="3551139" cy="347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5"/>
              </a:lnSpc>
            </a:pPr>
            <a:r>
              <a:rPr lang="en-US" sz="2004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800 sqft, 1 Bed, 1 Bath, Urban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072127" y="5992216"/>
            <a:ext cx="3937845" cy="347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5"/>
              </a:lnSpc>
            </a:pPr>
            <a:r>
              <a:rPr lang="en-US" sz="2004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2,200 sq ft, 4 Beds, 3 Baths, Rural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072127" y="3391252"/>
            <a:ext cx="4443460" cy="347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5"/>
              </a:lnSpc>
            </a:pPr>
            <a:r>
              <a:rPr lang="en-US" sz="2004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1,500 sqft, 3 Beds, 2 Baths, Suburban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877557" y="9714376"/>
            <a:ext cx="1083297" cy="347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5"/>
              </a:lnSpc>
            </a:pPr>
            <a:r>
              <a:rPr lang="en-US" sz="2004" b="1" i="1">
                <a:solidFill>
                  <a:srgbClr val="3730A3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$385,000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964937" y="8228428"/>
            <a:ext cx="4443012" cy="904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13"/>
              </a:lnSpc>
            </a:pPr>
            <a:r>
              <a:rPr lang="en-US" sz="2004" b="1" i="1">
                <a:solidFill>
                  <a:srgbClr val="475569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NEW UNSEEN HOUSE</a:t>
            </a:r>
          </a:p>
          <a:p>
            <a:pPr algn="ctr">
              <a:lnSpc>
                <a:spcPts val="3713"/>
              </a:lnSpc>
            </a:pPr>
            <a:r>
              <a:rPr lang="en-US" sz="2004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1,800 sq ft, 3 Beds, 2 Baths, Suburban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017114" y="6042117"/>
            <a:ext cx="1083307" cy="347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5"/>
              </a:lnSpc>
            </a:pPr>
            <a:r>
              <a:rPr lang="en-US" sz="2004" b="1" i="1">
                <a:solidFill>
                  <a:srgbClr val="3730A3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$280,000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017114" y="3440944"/>
            <a:ext cx="849782" cy="283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1572" b="1" i="1">
                <a:solidFill>
                  <a:srgbClr val="3730A3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$350,000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017114" y="4741231"/>
            <a:ext cx="1083821" cy="348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2006" b="1" i="1">
                <a:solidFill>
                  <a:srgbClr val="3730A3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$420,000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4925" y="5189725"/>
            <a:ext cx="7966453" cy="1850641"/>
          </a:xfrm>
          <a:custGeom>
            <a:avLst/>
            <a:gdLst/>
            <a:ahLst/>
            <a:cxnLst/>
            <a:rect l="l" t="t" r="r" b="b"/>
            <a:pathLst>
              <a:path w="7966453" h="1850641">
                <a:moveTo>
                  <a:pt x="0" y="0"/>
                </a:moveTo>
                <a:lnTo>
                  <a:pt x="7966453" y="0"/>
                </a:lnTo>
                <a:lnTo>
                  <a:pt x="7966453" y="1850641"/>
                </a:lnTo>
                <a:lnTo>
                  <a:pt x="0" y="18506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74925" y="7247125"/>
            <a:ext cx="7966453" cy="1864357"/>
          </a:xfrm>
          <a:custGeom>
            <a:avLst/>
            <a:gdLst/>
            <a:ahLst/>
            <a:cxnLst/>
            <a:rect l="l" t="t" r="r" b="b"/>
            <a:pathLst>
              <a:path w="7966453" h="1864357">
                <a:moveTo>
                  <a:pt x="0" y="0"/>
                </a:moveTo>
                <a:lnTo>
                  <a:pt x="7966453" y="0"/>
                </a:lnTo>
                <a:lnTo>
                  <a:pt x="7966453" y="1864357"/>
                </a:lnTo>
                <a:lnTo>
                  <a:pt x="0" y="18643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248137" y="5189725"/>
            <a:ext cx="7964929" cy="1850641"/>
          </a:xfrm>
          <a:custGeom>
            <a:avLst/>
            <a:gdLst/>
            <a:ahLst/>
            <a:cxnLst/>
            <a:rect l="l" t="t" r="r" b="b"/>
            <a:pathLst>
              <a:path w="7964929" h="1850641">
                <a:moveTo>
                  <a:pt x="0" y="0"/>
                </a:moveTo>
                <a:lnTo>
                  <a:pt x="7964929" y="0"/>
                </a:lnTo>
                <a:lnTo>
                  <a:pt x="7964929" y="1850641"/>
                </a:lnTo>
                <a:lnTo>
                  <a:pt x="0" y="18506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248137" y="7247125"/>
            <a:ext cx="7964929" cy="1864357"/>
          </a:xfrm>
          <a:custGeom>
            <a:avLst/>
            <a:gdLst/>
            <a:ahLst/>
            <a:cxnLst/>
            <a:rect l="l" t="t" r="r" b="b"/>
            <a:pathLst>
              <a:path w="7964929" h="1864357">
                <a:moveTo>
                  <a:pt x="0" y="0"/>
                </a:moveTo>
                <a:lnTo>
                  <a:pt x="7964929" y="0"/>
                </a:lnTo>
                <a:lnTo>
                  <a:pt x="7964929" y="1864357"/>
                </a:lnTo>
                <a:lnTo>
                  <a:pt x="0" y="18643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4707636" y="2328672"/>
            <a:ext cx="8872728" cy="2243328"/>
            <a:chOff x="0" y="0"/>
            <a:chExt cx="11830304" cy="299110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830304" cy="2991104"/>
            </a:xfrm>
            <a:custGeom>
              <a:avLst/>
              <a:gdLst/>
              <a:ahLst/>
              <a:cxnLst/>
              <a:rect l="l" t="t" r="r" b="b"/>
              <a:pathLst>
                <a:path w="11830304" h="2991104">
                  <a:moveTo>
                    <a:pt x="0" y="0"/>
                  </a:moveTo>
                  <a:lnTo>
                    <a:pt x="11830304" y="0"/>
                  </a:lnTo>
                  <a:lnTo>
                    <a:pt x="11830304" y="2991104"/>
                  </a:lnTo>
                  <a:lnTo>
                    <a:pt x="0" y="29911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5850636" y="3186684"/>
            <a:ext cx="6586728" cy="667512"/>
            <a:chOff x="0" y="0"/>
            <a:chExt cx="8782304" cy="89001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782304" cy="890016"/>
            </a:xfrm>
            <a:custGeom>
              <a:avLst/>
              <a:gdLst/>
              <a:ahLst/>
              <a:cxnLst/>
              <a:rect l="l" t="t" r="r" b="b"/>
              <a:pathLst>
                <a:path w="8782304" h="890016">
                  <a:moveTo>
                    <a:pt x="0" y="0"/>
                  </a:moveTo>
                  <a:lnTo>
                    <a:pt x="8782304" y="0"/>
                  </a:lnTo>
                  <a:lnTo>
                    <a:pt x="8782304" y="890016"/>
                  </a:lnTo>
                  <a:lnTo>
                    <a:pt x="0" y="8900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5317874" y="829932"/>
            <a:ext cx="7804852" cy="778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1" i="1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How Does the Model Learn?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14554" y="5681643"/>
            <a:ext cx="2117293" cy="395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256" b="1" i="1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Weights &amp; Bias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400938" y="6167018"/>
            <a:ext cx="64818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14554" y="7739291"/>
            <a:ext cx="3040209" cy="3984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256" b="1" i="1">
                <a:solidFill>
                  <a:srgbClr val="3A5C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Gradient Descent (</a:t>
            </a:r>
            <a:r>
              <a:rPr lang="en-US" sz="2256">
                <a:solidFill>
                  <a:srgbClr val="3A5C00"/>
                </a:solidFill>
                <a:latin typeface="Arial"/>
                <a:ea typeface="Arial"/>
                <a:cs typeface="Arial"/>
                <a:sym typeface="Arial"/>
              </a:rPr>
              <a:t>∇</a:t>
            </a:r>
            <a:r>
              <a:rPr lang="en-US" sz="2256" b="1" i="1">
                <a:solidFill>
                  <a:srgbClr val="3A5C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L)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513686" y="8238353"/>
            <a:ext cx="64913" cy="327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3"/>
              </a:lnSpc>
            </a:pPr>
            <a:r>
              <a:rPr lang="en-US" sz="1802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787766" y="7739291"/>
            <a:ext cx="2385574" cy="395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256" b="1" i="1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Backpropagation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851432" y="8224666"/>
            <a:ext cx="64818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787766" y="5681643"/>
            <a:ext cx="2444896" cy="395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256" b="1" i="1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Loss Function (L)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789034" y="6167018"/>
            <a:ext cx="64818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14554" y="6167018"/>
            <a:ext cx="4375471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Featureinfluenceandadjustable baseline.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787766" y="6167018"/>
            <a:ext cx="2706891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Measures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prediction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error.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787766" y="8224666"/>
            <a:ext cx="4351458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Calculatesparametercontribution to error.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614554" y="8238353"/>
            <a:ext cx="2952855" cy="327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3"/>
              </a:lnSpc>
            </a:pPr>
            <a:r>
              <a:rPr lang="en-US" sz="1802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Direction</a:t>
            </a:r>
            <a:r>
              <a:rPr lang="en-US" sz="180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2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to</a:t>
            </a:r>
            <a:r>
              <a:rPr lang="en-US" sz="180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2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reduce</a:t>
            </a:r>
            <a:r>
              <a:rPr lang="en-US" sz="180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2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lang="en-US" sz="180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2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error.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9497" y="7116061"/>
            <a:ext cx="355597" cy="927097"/>
          </a:xfrm>
          <a:custGeom>
            <a:avLst/>
            <a:gdLst/>
            <a:ahLst/>
            <a:cxnLst/>
            <a:rect l="l" t="t" r="r" b="b"/>
            <a:pathLst>
              <a:path w="355597" h="927097">
                <a:moveTo>
                  <a:pt x="0" y="0"/>
                </a:moveTo>
                <a:lnTo>
                  <a:pt x="355597" y="0"/>
                </a:lnTo>
                <a:lnTo>
                  <a:pt x="355597" y="927097"/>
                </a:lnTo>
                <a:lnTo>
                  <a:pt x="0" y="9270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70353" y="4791961"/>
            <a:ext cx="6991093" cy="1861309"/>
          </a:xfrm>
          <a:custGeom>
            <a:avLst/>
            <a:gdLst/>
            <a:ahLst/>
            <a:cxnLst/>
            <a:rect l="l" t="t" r="r" b="b"/>
            <a:pathLst>
              <a:path w="6991093" h="1861309">
                <a:moveTo>
                  <a:pt x="0" y="0"/>
                </a:moveTo>
                <a:lnTo>
                  <a:pt x="6991093" y="0"/>
                </a:lnTo>
                <a:lnTo>
                  <a:pt x="6991093" y="1861309"/>
                </a:lnTo>
                <a:lnTo>
                  <a:pt x="0" y="18613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833609" y="4253989"/>
            <a:ext cx="8379457" cy="3850129"/>
          </a:xfrm>
          <a:custGeom>
            <a:avLst/>
            <a:gdLst/>
            <a:ahLst/>
            <a:cxnLst/>
            <a:rect l="l" t="t" r="r" b="b"/>
            <a:pathLst>
              <a:path w="8379457" h="3850129">
                <a:moveTo>
                  <a:pt x="0" y="0"/>
                </a:moveTo>
                <a:lnTo>
                  <a:pt x="8379457" y="0"/>
                </a:lnTo>
                <a:lnTo>
                  <a:pt x="8379457" y="3850129"/>
                </a:lnTo>
                <a:lnTo>
                  <a:pt x="0" y="38501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9601200" y="5021580"/>
            <a:ext cx="6844284" cy="457200"/>
            <a:chOff x="0" y="0"/>
            <a:chExt cx="9125712" cy="609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125712" cy="609600"/>
            </a:xfrm>
            <a:custGeom>
              <a:avLst/>
              <a:gdLst/>
              <a:ahLst/>
              <a:cxnLst/>
              <a:rect l="l" t="t" r="r" b="b"/>
              <a:pathLst>
                <a:path w="9125712" h="609600">
                  <a:moveTo>
                    <a:pt x="0" y="0"/>
                  </a:moveTo>
                  <a:lnTo>
                    <a:pt x="9125712" y="0"/>
                  </a:lnTo>
                  <a:lnTo>
                    <a:pt x="9125712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1143000" y="884311"/>
            <a:ext cx="5267935" cy="1141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2"/>
              </a:lnSpc>
            </a:pPr>
            <a:r>
              <a:rPr lang="en-US" sz="1572" b="1" i="1">
                <a:solidFill>
                  <a:srgbClr val="0F172A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EVALUATION</a:t>
            </a:r>
          </a:p>
          <a:p>
            <a:pPr algn="l">
              <a:lnSpc>
                <a:spcPts val="6219"/>
              </a:lnSpc>
            </a:pPr>
            <a:r>
              <a:rPr lang="en-US" sz="4500" b="1" i="1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Training vs Testing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43000" y="4302147"/>
            <a:ext cx="1411853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i="1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Dataset Split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849880" y="5530872"/>
            <a:ext cx="1240012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i="1">
                <a:solidFill>
                  <a:srgbClr val="3A5C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Train (70%)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71600" y="7131329"/>
            <a:ext cx="3911489" cy="869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00" b="1" i="1">
                <a:solidFill>
                  <a:srgbClr val="525252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Training set:</a:t>
            </a:r>
            <a:r>
              <a:rPr lang="en-US" sz="180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Learns the patterns. </a:t>
            </a:r>
            <a:r>
              <a:rPr lang="en-US" sz="1800" b="1" i="1">
                <a:solidFill>
                  <a:srgbClr val="525252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Validation set:</a:t>
            </a:r>
            <a:r>
              <a:rPr lang="en-US" sz="180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Tunes model settings. </a:t>
            </a:r>
            <a:r>
              <a:rPr lang="en-US" sz="1800" b="1" i="1">
                <a:solidFill>
                  <a:srgbClr val="525252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Test set:</a:t>
            </a:r>
            <a:r>
              <a:rPr lang="en-US" sz="180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Evaluates on unseen data.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228845" y="5530872"/>
            <a:ext cx="337404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i="1">
                <a:solidFill>
                  <a:srgbClr val="854D0E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Val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208263" y="5530872"/>
            <a:ext cx="461677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i="1">
                <a:solidFill>
                  <a:srgbClr val="1E40AF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Test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602086" y="5749500"/>
            <a:ext cx="6035135" cy="1550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21"/>
              </a:lnSpc>
            </a:pPr>
            <a:r>
              <a:rPr lang="en-US" sz="3158" b="1" i="1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Memorization ≠ Generalization</a:t>
            </a:r>
          </a:p>
          <a:p>
            <a:pPr algn="l">
              <a:lnSpc>
                <a:spcPts val="2839"/>
              </a:lnSpc>
            </a:pPr>
            <a:r>
              <a:rPr lang="en-US" sz="2028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A good model doesn't simply memorize the training examples—it</a:t>
            </a:r>
            <a:r>
              <a:rPr lang="en-US" sz="202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28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learns</a:t>
            </a:r>
            <a:r>
              <a:rPr lang="en-US" sz="202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28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r>
              <a:rPr lang="en-US" sz="202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28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that</a:t>
            </a:r>
            <a:r>
              <a:rPr lang="en-US" sz="202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28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work</a:t>
            </a:r>
            <a:r>
              <a:rPr lang="en-US" sz="202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28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on</a:t>
            </a:r>
            <a:r>
              <a:rPr lang="en-US" sz="202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28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new</a:t>
            </a:r>
            <a:r>
              <a:rPr lang="en-US" sz="202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28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data.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135600" cy="10287000"/>
            <a:chOff x="0" y="0"/>
            <a:chExt cx="241808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180800" cy="13716000"/>
            </a:xfrm>
            <a:custGeom>
              <a:avLst/>
              <a:gdLst/>
              <a:ahLst/>
              <a:cxnLst/>
              <a:rect l="l" t="t" r="r" b="b"/>
              <a:pathLst>
                <a:path w="24180800" h="13716000">
                  <a:moveTo>
                    <a:pt x="0" y="0"/>
                  </a:moveTo>
                  <a:lnTo>
                    <a:pt x="24180800" y="0"/>
                  </a:lnTo>
                  <a:lnTo>
                    <a:pt x="241808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12222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-63503" y="9868405"/>
            <a:ext cx="18414997" cy="482089"/>
          </a:xfrm>
          <a:custGeom>
            <a:avLst/>
            <a:gdLst/>
            <a:ahLst/>
            <a:cxnLst/>
            <a:rect l="l" t="t" r="r" b="b"/>
            <a:pathLst>
              <a:path w="18414997" h="482089">
                <a:moveTo>
                  <a:pt x="0" y="0"/>
                </a:moveTo>
                <a:lnTo>
                  <a:pt x="18414997" y="0"/>
                </a:lnTo>
                <a:lnTo>
                  <a:pt x="18414997" y="482089"/>
                </a:lnTo>
                <a:lnTo>
                  <a:pt x="0" y="4820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4925" y="2784853"/>
            <a:ext cx="5241541" cy="3042409"/>
          </a:xfrm>
          <a:custGeom>
            <a:avLst/>
            <a:gdLst/>
            <a:ahLst/>
            <a:cxnLst/>
            <a:rect l="l" t="t" r="r" b="b"/>
            <a:pathLst>
              <a:path w="5241541" h="3042409">
                <a:moveTo>
                  <a:pt x="0" y="0"/>
                </a:moveTo>
                <a:lnTo>
                  <a:pt x="5241541" y="0"/>
                </a:lnTo>
                <a:lnTo>
                  <a:pt x="5241541" y="3042409"/>
                </a:lnTo>
                <a:lnTo>
                  <a:pt x="0" y="30424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74925" y="6024877"/>
            <a:ext cx="5241541" cy="3415789"/>
          </a:xfrm>
          <a:custGeom>
            <a:avLst/>
            <a:gdLst/>
            <a:ahLst/>
            <a:cxnLst/>
            <a:rect l="l" t="t" r="r" b="b"/>
            <a:pathLst>
              <a:path w="5241541" h="3415789">
                <a:moveTo>
                  <a:pt x="0" y="0"/>
                </a:moveTo>
                <a:lnTo>
                  <a:pt x="5241541" y="0"/>
                </a:lnTo>
                <a:lnTo>
                  <a:pt x="5241541" y="3415789"/>
                </a:lnTo>
                <a:lnTo>
                  <a:pt x="0" y="34157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523225" y="2775709"/>
            <a:ext cx="5241541" cy="3042409"/>
          </a:xfrm>
          <a:custGeom>
            <a:avLst/>
            <a:gdLst/>
            <a:ahLst/>
            <a:cxnLst/>
            <a:rect l="l" t="t" r="r" b="b"/>
            <a:pathLst>
              <a:path w="5241541" h="3042409">
                <a:moveTo>
                  <a:pt x="0" y="0"/>
                </a:moveTo>
                <a:lnTo>
                  <a:pt x="5241541" y="0"/>
                </a:lnTo>
                <a:lnTo>
                  <a:pt x="5241541" y="3042409"/>
                </a:lnTo>
                <a:lnTo>
                  <a:pt x="0" y="30424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523225" y="6024877"/>
            <a:ext cx="5241541" cy="3415789"/>
          </a:xfrm>
          <a:custGeom>
            <a:avLst/>
            <a:gdLst/>
            <a:ahLst/>
            <a:cxnLst/>
            <a:rect l="l" t="t" r="r" b="b"/>
            <a:pathLst>
              <a:path w="5241541" h="3415789">
                <a:moveTo>
                  <a:pt x="0" y="0"/>
                </a:moveTo>
                <a:lnTo>
                  <a:pt x="5241541" y="0"/>
                </a:lnTo>
                <a:lnTo>
                  <a:pt x="5241541" y="3415789"/>
                </a:lnTo>
                <a:lnTo>
                  <a:pt x="0" y="34157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1971525" y="2775709"/>
            <a:ext cx="5241541" cy="3042409"/>
          </a:xfrm>
          <a:custGeom>
            <a:avLst/>
            <a:gdLst/>
            <a:ahLst/>
            <a:cxnLst/>
            <a:rect l="l" t="t" r="r" b="b"/>
            <a:pathLst>
              <a:path w="5241541" h="3042409">
                <a:moveTo>
                  <a:pt x="0" y="0"/>
                </a:moveTo>
                <a:lnTo>
                  <a:pt x="5241541" y="0"/>
                </a:lnTo>
                <a:lnTo>
                  <a:pt x="5241541" y="3042409"/>
                </a:lnTo>
                <a:lnTo>
                  <a:pt x="0" y="304240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971525" y="6024877"/>
            <a:ext cx="5241541" cy="3415789"/>
          </a:xfrm>
          <a:custGeom>
            <a:avLst/>
            <a:gdLst/>
            <a:ahLst/>
            <a:cxnLst/>
            <a:rect l="l" t="t" r="r" b="b"/>
            <a:pathLst>
              <a:path w="5241541" h="3415789">
                <a:moveTo>
                  <a:pt x="0" y="0"/>
                </a:moveTo>
                <a:lnTo>
                  <a:pt x="5241541" y="0"/>
                </a:lnTo>
                <a:lnTo>
                  <a:pt x="5241541" y="3415789"/>
                </a:lnTo>
                <a:lnTo>
                  <a:pt x="0" y="341578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143000" y="829932"/>
            <a:ext cx="6368510" cy="778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1" i="1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The Supervised Toolkit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470128" y="1766230"/>
            <a:ext cx="81239" cy="395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256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43000" y="1766230"/>
            <a:ext cx="4709779" cy="395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256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Traditional</a:t>
            </a:r>
            <a:r>
              <a:rPr lang="en-US" sz="22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56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ML</a:t>
            </a:r>
            <a:r>
              <a:rPr lang="en-US" sz="22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56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lang="en-US" sz="22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56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Neural</a:t>
            </a:r>
            <a:r>
              <a:rPr lang="en-US" sz="22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56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Networks.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14554" y="3269952"/>
            <a:ext cx="2797464" cy="427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0"/>
              </a:lnSpc>
            </a:pPr>
            <a:r>
              <a:rPr lang="en-US" sz="2472" b="1" i="1" spc="2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Linear Regression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14554" y="6520644"/>
            <a:ext cx="3938102" cy="803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0"/>
              </a:lnSpc>
            </a:pPr>
            <a:r>
              <a:rPr lang="en-US" sz="2472" b="1" i="1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Support Vector Machines (SVM)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063483" y="3269952"/>
            <a:ext cx="3063897" cy="427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0"/>
              </a:lnSpc>
            </a:pPr>
            <a:r>
              <a:rPr lang="en-US" sz="2472" b="1" i="1" spc="2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Logistic Regression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063483" y="6520644"/>
            <a:ext cx="4187409" cy="427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0"/>
              </a:lnSpc>
            </a:pPr>
            <a:r>
              <a:rPr lang="en-US" sz="2472" b="1" i="1" spc="2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k-Nearest Neighbors (k-NN)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512040" y="3269952"/>
            <a:ext cx="2263330" cy="427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0"/>
              </a:lnSpc>
            </a:pPr>
            <a:r>
              <a:rPr lang="en-US" sz="2472" b="1" i="1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Decision Trees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512040" y="6520644"/>
            <a:ext cx="2532964" cy="427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0"/>
              </a:lnSpc>
            </a:pPr>
            <a:r>
              <a:rPr lang="en-US" sz="2472" b="1" i="1" spc="2">
                <a:solidFill>
                  <a:srgbClr val="FFFFFF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Neural Networks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86128" y="8568785"/>
            <a:ext cx="498157" cy="241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8"/>
              </a:lnSpc>
            </a:pPr>
            <a:r>
              <a:rPr lang="en-US" sz="1355" b="1" i="1" spc="1">
                <a:solidFill>
                  <a:srgbClr val="A3A3A3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BOTH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86128" y="4917919"/>
            <a:ext cx="1169518" cy="241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8"/>
              </a:lnSpc>
            </a:pPr>
            <a:r>
              <a:rPr lang="en-US" sz="1355" b="1" i="1">
                <a:solidFill>
                  <a:srgbClr val="3A5C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REGRESSION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234685" y="8568785"/>
            <a:ext cx="498157" cy="241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8"/>
              </a:lnSpc>
            </a:pPr>
            <a:r>
              <a:rPr lang="en-US" sz="1355" b="1" i="1" spc="1">
                <a:solidFill>
                  <a:srgbClr val="A3A3A3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BOTH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234685" y="4917919"/>
            <a:ext cx="1447752" cy="241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8"/>
              </a:lnSpc>
            </a:pPr>
            <a:r>
              <a:rPr lang="en-US" sz="1355" b="1" i="1">
                <a:solidFill>
                  <a:srgbClr val="1E40AF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CLASSIFICATION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683366" y="4946237"/>
            <a:ext cx="498167" cy="241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8"/>
              </a:lnSpc>
            </a:pPr>
            <a:r>
              <a:rPr lang="en-US" sz="1355" b="1" i="1" spc="1">
                <a:solidFill>
                  <a:srgbClr val="A3A3A3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BOTH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683366" y="8568785"/>
            <a:ext cx="498167" cy="241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8"/>
              </a:lnSpc>
            </a:pPr>
            <a:r>
              <a:rPr lang="en-US" sz="1355" b="1" i="1" spc="1">
                <a:solidFill>
                  <a:srgbClr val="FFFFFF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BOTH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4925" y="2998213"/>
            <a:ext cx="7908541" cy="6521701"/>
          </a:xfrm>
          <a:custGeom>
            <a:avLst/>
            <a:gdLst/>
            <a:ahLst/>
            <a:cxnLst/>
            <a:rect l="l" t="t" r="r" b="b"/>
            <a:pathLst>
              <a:path w="7908541" h="6521701">
                <a:moveTo>
                  <a:pt x="0" y="0"/>
                </a:moveTo>
                <a:lnTo>
                  <a:pt x="7908541" y="0"/>
                </a:lnTo>
                <a:lnTo>
                  <a:pt x="7908541" y="6521701"/>
                </a:lnTo>
                <a:lnTo>
                  <a:pt x="0" y="65217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304525" y="2998213"/>
            <a:ext cx="7908541" cy="6521701"/>
          </a:xfrm>
          <a:custGeom>
            <a:avLst/>
            <a:gdLst/>
            <a:ahLst/>
            <a:cxnLst/>
            <a:rect l="l" t="t" r="r" b="b"/>
            <a:pathLst>
              <a:path w="7908541" h="6521701">
                <a:moveTo>
                  <a:pt x="0" y="0"/>
                </a:moveTo>
                <a:lnTo>
                  <a:pt x="7908541" y="0"/>
                </a:lnTo>
                <a:lnTo>
                  <a:pt x="7908541" y="6521701"/>
                </a:lnTo>
                <a:lnTo>
                  <a:pt x="0" y="65217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9957816" y="5166360"/>
            <a:ext cx="6601968" cy="2857500"/>
            <a:chOff x="0" y="0"/>
            <a:chExt cx="8802624" cy="3810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802624" cy="3810000"/>
            </a:xfrm>
            <a:custGeom>
              <a:avLst/>
              <a:gdLst/>
              <a:ahLst/>
              <a:cxnLst/>
              <a:rect l="l" t="t" r="r" b="b"/>
              <a:pathLst>
                <a:path w="8802624" h="3810000">
                  <a:moveTo>
                    <a:pt x="0" y="0"/>
                  </a:moveTo>
                  <a:lnTo>
                    <a:pt x="8802624" y="0"/>
                  </a:lnTo>
                  <a:lnTo>
                    <a:pt x="8802624" y="3810000"/>
                  </a:lnTo>
                  <a:lnTo>
                    <a:pt x="0" y="381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0315956" y="5522976"/>
            <a:ext cx="5885688" cy="2144268"/>
            <a:chOff x="0" y="0"/>
            <a:chExt cx="7847584" cy="285902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847584" cy="2859024"/>
            </a:xfrm>
            <a:custGeom>
              <a:avLst/>
              <a:gdLst/>
              <a:ahLst/>
              <a:cxnLst/>
              <a:rect l="l" t="t" r="r" b="b"/>
              <a:pathLst>
                <a:path w="7847584" h="2859024">
                  <a:moveTo>
                    <a:pt x="0" y="0"/>
                  </a:moveTo>
                  <a:lnTo>
                    <a:pt x="7847584" y="0"/>
                  </a:lnTo>
                  <a:lnTo>
                    <a:pt x="7847584" y="2859024"/>
                  </a:lnTo>
                  <a:lnTo>
                    <a:pt x="0" y="28590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143000" y="756599"/>
            <a:ext cx="6101182" cy="942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400" b="1" i="1">
                <a:solidFill>
                  <a:srgbClr val="1A1A1A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Linear Regression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32788" y="1911572"/>
            <a:ext cx="97231" cy="471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43000" y="1911572"/>
            <a:ext cx="9250051" cy="471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Thefoundationalalgorithmforpredictingcontinuous values.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28854" y="3579228"/>
            <a:ext cx="3269399" cy="558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8"/>
              </a:lnSpc>
            </a:pPr>
            <a:r>
              <a:rPr lang="en-US" sz="3156" b="1" i="1">
                <a:solidFill>
                  <a:srgbClr val="1F293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Core Mechanism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190426" y="4318292"/>
            <a:ext cx="81239" cy="395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256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59340" y="3579228"/>
            <a:ext cx="2948064" cy="558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8"/>
              </a:lnSpc>
            </a:pPr>
            <a:r>
              <a:rPr lang="en-US" sz="3156" b="1" i="1">
                <a:solidFill>
                  <a:srgbClr val="1F293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Line of Best Fit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233747" y="4318292"/>
            <a:ext cx="81239" cy="395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256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28854" y="4318292"/>
            <a:ext cx="5476332" cy="395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256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Fitsastraightlinetoobserved data points.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959340" y="4318292"/>
            <a:ext cx="5184372" cy="395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256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Minimizesthedistanceto actual targets.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957454" y="8505663"/>
            <a:ext cx="1170394" cy="241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8"/>
              </a:lnSpc>
            </a:pPr>
            <a:r>
              <a:rPr lang="en-US" sz="1355" b="1" i="1">
                <a:solidFill>
                  <a:srgbClr val="4D7C0F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REGRESSION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187940" y="8534371"/>
            <a:ext cx="1126484" cy="241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8"/>
              </a:lnSpc>
            </a:pPr>
            <a:r>
              <a:rPr lang="en-US" sz="1355" b="1" i="1">
                <a:solidFill>
                  <a:srgbClr val="FFFFFF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SUPERVISED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801113" y="5559581"/>
            <a:ext cx="2506656" cy="703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81"/>
              </a:lnSpc>
            </a:pPr>
            <a:r>
              <a:rPr lang="en-US" sz="4058" b="1" i="1">
                <a:solidFill>
                  <a:srgbClr val="1A1A1A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y = wx + b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4925" y="2998213"/>
            <a:ext cx="5165341" cy="5985253"/>
          </a:xfrm>
          <a:custGeom>
            <a:avLst/>
            <a:gdLst/>
            <a:ahLst/>
            <a:cxnLst/>
            <a:rect l="l" t="t" r="r" b="b"/>
            <a:pathLst>
              <a:path w="5165341" h="5985253">
                <a:moveTo>
                  <a:pt x="0" y="0"/>
                </a:moveTo>
                <a:lnTo>
                  <a:pt x="5165341" y="0"/>
                </a:lnTo>
                <a:lnTo>
                  <a:pt x="5165341" y="5985253"/>
                </a:lnTo>
                <a:lnTo>
                  <a:pt x="0" y="5985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561325" y="2998213"/>
            <a:ext cx="5165341" cy="5985253"/>
          </a:xfrm>
          <a:custGeom>
            <a:avLst/>
            <a:gdLst/>
            <a:ahLst/>
            <a:cxnLst/>
            <a:rect l="l" t="t" r="r" b="b"/>
            <a:pathLst>
              <a:path w="5165341" h="5985253">
                <a:moveTo>
                  <a:pt x="0" y="0"/>
                </a:moveTo>
                <a:lnTo>
                  <a:pt x="5165341" y="0"/>
                </a:lnTo>
                <a:lnTo>
                  <a:pt x="5165341" y="5985253"/>
                </a:lnTo>
                <a:lnTo>
                  <a:pt x="0" y="5985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047725" y="2998213"/>
            <a:ext cx="5165341" cy="5985253"/>
          </a:xfrm>
          <a:custGeom>
            <a:avLst/>
            <a:gdLst/>
            <a:ahLst/>
            <a:cxnLst/>
            <a:rect l="l" t="t" r="r" b="b"/>
            <a:pathLst>
              <a:path w="5165341" h="5985253">
                <a:moveTo>
                  <a:pt x="0" y="0"/>
                </a:moveTo>
                <a:lnTo>
                  <a:pt x="5165341" y="0"/>
                </a:lnTo>
                <a:lnTo>
                  <a:pt x="5165341" y="5985253"/>
                </a:lnTo>
                <a:lnTo>
                  <a:pt x="0" y="59852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143000" y="756599"/>
            <a:ext cx="8317944" cy="942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400" b="1" i="1">
                <a:solidFill>
                  <a:srgbClr val="1A1A1A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Method of Least Squares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827428" y="1911572"/>
            <a:ext cx="97231" cy="471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43000" y="1911572"/>
            <a:ext cx="6912616" cy="471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Howlinear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regressionfindsthe"bestfit"line.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28854" y="3579228"/>
            <a:ext cx="3378146" cy="558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8"/>
              </a:lnSpc>
            </a:pPr>
            <a:r>
              <a:rPr lang="en-US" sz="3156" b="1" i="1">
                <a:solidFill>
                  <a:srgbClr val="1F293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1. Find the Errors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303738" y="4318292"/>
            <a:ext cx="81239" cy="395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256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215883" y="3579228"/>
            <a:ext cx="3901450" cy="558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8"/>
              </a:lnSpc>
            </a:pPr>
            <a:r>
              <a:rPr lang="en-US" sz="3156" b="1" i="1">
                <a:solidFill>
                  <a:srgbClr val="1F293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2. Square the Errors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917551" y="4318292"/>
            <a:ext cx="81239" cy="395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256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702540" y="3579228"/>
            <a:ext cx="3901040" cy="558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8"/>
              </a:lnSpc>
            </a:pPr>
            <a:r>
              <a:rPr lang="en-US" sz="3156" b="1" i="1">
                <a:solidFill>
                  <a:srgbClr val="1F293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3. Minimize the Sum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28854" y="4356392"/>
            <a:ext cx="3873960" cy="1042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6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Measure the verticaldistance between real data points and the prediction line.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215883" y="4318292"/>
            <a:ext cx="3563893" cy="395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256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Makeall errorspositive and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15883" y="4699292"/>
            <a:ext cx="2998403" cy="699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6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strongly penalize large mistakes.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702540" y="4842167"/>
            <a:ext cx="4068299" cy="1042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6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Adjust the line's slope and intercept until the total squared error is as small as possible.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28854" y="6032525"/>
            <a:ext cx="4006129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i="1">
                <a:solidFill>
                  <a:srgbClr val="6B728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REAL VALUE (Y) VS PREDICTED (Ŷ)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957454" y="7968710"/>
            <a:ext cx="1008440" cy="241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8"/>
              </a:lnSpc>
            </a:pPr>
            <a:r>
              <a:rPr lang="en-US" sz="1355" b="1" i="1">
                <a:solidFill>
                  <a:srgbClr val="4B5563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RESIDUALS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444483" y="7968710"/>
            <a:ext cx="1756734" cy="241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8"/>
              </a:lnSpc>
            </a:pPr>
            <a:r>
              <a:rPr lang="en-US" sz="1355" b="1" i="1">
                <a:solidFill>
                  <a:srgbClr val="991B1B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PENALTY FUNCTION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931140" y="7968710"/>
            <a:ext cx="1237850" cy="241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8"/>
              </a:lnSpc>
            </a:pPr>
            <a:r>
              <a:rPr lang="en-US" sz="1355" b="1" i="1">
                <a:solidFill>
                  <a:srgbClr val="1E3A8A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OPTIMIZATION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257670" y="6131090"/>
            <a:ext cx="1809055" cy="634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1" i="1">
                <a:solidFill>
                  <a:srgbClr val="991B1B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Σ (y -ŷ)²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4925" y="2998213"/>
            <a:ext cx="7908541" cy="6893557"/>
          </a:xfrm>
          <a:custGeom>
            <a:avLst/>
            <a:gdLst/>
            <a:ahLst/>
            <a:cxnLst/>
            <a:rect l="l" t="t" r="r" b="b"/>
            <a:pathLst>
              <a:path w="7908541" h="6893557">
                <a:moveTo>
                  <a:pt x="0" y="0"/>
                </a:moveTo>
                <a:lnTo>
                  <a:pt x="7908541" y="0"/>
                </a:lnTo>
                <a:lnTo>
                  <a:pt x="7908541" y="6893557"/>
                </a:lnTo>
                <a:lnTo>
                  <a:pt x="0" y="68935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304525" y="2998213"/>
            <a:ext cx="7908541" cy="6893557"/>
          </a:xfrm>
          <a:custGeom>
            <a:avLst/>
            <a:gdLst/>
            <a:ahLst/>
            <a:cxnLst/>
            <a:rect l="l" t="t" r="r" b="b"/>
            <a:pathLst>
              <a:path w="7908541" h="6893557">
                <a:moveTo>
                  <a:pt x="0" y="0"/>
                </a:moveTo>
                <a:lnTo>
                  <a:pt x="7908541" y="0"/>
                </a:lnTo>
                <a:lnTo>
                  <a:pt x="7908541" y="6893557"/>
                </a:lnTo>
                <a:lnTo>
                  <a:pt x="0" y="68935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143000" y="756599"/>
            <a:ext cx="6685979" cy="942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400" b="1" i="1">
                <a:solidFill>
                  <a:srgbClr val="1A1A1A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Logistic Regression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305431" y="1911572"/>
            <a:ext cx="97231" cy="471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1911572"/>
            <a:ext cx="9862480" cy="471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Despitethename,it'safoundationalalgorithmfor classification.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28854" y="3579228"/>
            <a:ext cx="3383871" cy="558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8"/>
              </a:lnSpc>
            </a:pPr>
            <a:r>
              <a:rPr lang="en-US" sz="3156" b="1" i="1">
                <a:solidFill>
                  <a:srgbClr val="1F293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Binary Outcomes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88601" y="4318292"/>
            <a:ext cx="81239" cy="395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256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59340" y="3579228"/>
            <a:ext cx="3562121" cy="558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8"/>
              </a:lnSpc>
            </a:pPr>
            <a:r>
              <a:rPr lang="en-US" sz="3156" b="1" i="1">
                <a:solidFill>
                  <a:srgbClr val="1F293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Probability Output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963846" y="4318292"/>
            <a:ext cx="81239" cy="395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256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28854" y="4318292"/>
            <a:ext cx="6429908" cy="395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256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Classifies dataintodistinctcategories rather than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28854" y="4661192"/>
            <a:ext cx="2415388" cy="395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256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continuous values.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59340" y="4318292"/>
            <a:ext cx="6573107" cy="395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256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Returnsalikelihoodscorestrictly between 0 and 1.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957454" y="8877271"/>
            <a:ext cx="1448457" cy="241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8"/>
              </a:lnSpc>
            </a:pPr>
            <a:r>
              <a:rPr lang="en-US" sz="1355" b="1" i="1">
                <a:solidFill>
                  <a:srgbClr val="1E3A8A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CLASSIFICATION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187940" y="8877271"/>
            <a:ext cx="1183043" cy="241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8"/>
              </a:lnSpc>
            </a:pPr>
            <a:r>
              <a:rPr lang="en-US" sz="1355" b="1" i="1">
                <a:solidFill>
                  <a:srgbClr val="5B21B6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PROBABILITY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539472" y="5349345"/>
            <a:ext cx="1633604" cy="2256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756"/>
              </a:lnSpc>
            </a:pPr>
            <a:r>
              <a:rPr lang="en-US" sz="6302" b="1" i="1">
                <a:solidFill>
                  <a:srgbClr val="8B5CF6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87%</a:t>
            </a:r>
          </a:p>
          <a:p>
            <a:pPr algn="ctr">
              <a:lnSpc>
                <a:spcPts val="4506"/>
              </a:lnSpc>
            </a:pPr>
            <a:r>
              <a:rPr lang="en-US" sz="1802" b="1" i="1">
                <a:solidFill>
                  <a:srgbClr val="6B728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781158" y="7260955"/>
            <a:ext cx="3043676" cy="327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3"/>
              </a:lnSpc>
            </a:pPr>
            <a:r>
              <a:rPr lang="en-US" sz="1802" b="1" i="1">
                <a:solidFill>
                  <a:srgbClr val="6B728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PROBABILITY</a:t>
            </a:r>
            <a:r>
              <a:rPr lang="en-US" sz="1802" b="1" i="1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 </a:t>
            </a:r>
            <a:r>
              <a:rPr lang="en-US" sz="1802" b="1" i="1">
                <a:solidFill>
                  <a:srgbClr val="6B728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OF</a:t>
            </a:r>
            <a:r>
              <a:rPr lang="en-US" sz="1802" b="1" i="1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 </a:t>
            </a:r>
            <a:r>
              <a:rPr lang="en-US" sz="1802" b="1" i="1">
                <a:solidFill>
                  <a:srgbClr val="6B728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CLASS</a:t>
            </a:r>
            <a:r>
              <a:rPr lang="en-US" sz="1802" b="1" i="1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 </a:t>
            </a:r>
            <a:r>
              <a:rPr lang="en-US" sz="1802" b="1" i="1">
                <a:solidFill>
                  <a:srgbClr val="6B728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200399" y="5941819"/>
            <a:ext cx="2029711" cy="351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2"/>
              </a:lnSpc>
            </a:pPr>
            <a:r>
              <a:rPr lang="en-US" sz="203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Email Processing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944238" y="5939561"/>
            <a:ext cx="1917373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i="1">
                <a:solidFill>
                  <a:srgbClr val="DC2626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Spam / Not Spam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743956" y="6654060"/>
            <a:ext cx="2053542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i="1">
                <a:solidFill>
                  <a:srgbClr val="059669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Positive / Negative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458455" y="7368435"/>
            <a:ext cx="1399965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i="1">
                <a:solidFill>
                  <a:srgbClr val="D97706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Fraud / Legit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200399" y="6656861"/>
            <a:ext cx="1583865" cy="351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9"/>
              </a:lnSpc>
            </a:pPr>
            <a:r>
              <a:rPr lang="en-US" sz="2028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Medical Tests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200399" y="7371236"/>
            <a:ext cx="1944824" cy="351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9"/>
              </a:lnSpc>
            </a:pPr>
            <a:r>
              <a:rPr lang="en-US" sz="2028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Transaction Risk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4925" y="2998213"/>
            <a:ext cx="7908541" cy="6893557"/>
          </a:xfrm>
          <a:custGeom>
            <a:avLst/>
            <a:gdLst/>
            <a:ahLst/>
            <a:cxnLst/>
            <a:rect l="l" t="t" r="r" b="b"/>
            <a:pathLst>
              <a:path w="7908541" h="6893557">
                <a:moveTo>
                  <a:pt x="0" y="0"/>
                </a:moveTo>
                <a:lnTo>
                  <a:pt x="7908541" y="0"/>
                </a:lnTo>
                <a:lnTo>
                  <a:pt x="7908541" y="6893557"/>
                </a:lnTo>
                <a:lnTo>
                  <a:pt x="0" y="68935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304525" y="2998213"/>
            <a:ext cx="7908541" cy="6893557"/>
          </a:xfrm>
          <a:custGeom>
            <a:avLst/>
            <a:gdLst/>
            <a:ahLst/>
            <a:cxnLst/>
            <a:rect l="l" t="t" r="r" b="b"/>
            <a:pathLst>
              <a:path w="7908541" h="6893557">
                <a:moveTo>
                  <a:pt x="0" y="0"/>
                </a:moveTo>
                <a:lnTo>
                  <a:pt x="7908541" y="0"/>
                </a:lnTo>
                <a:lnTo>
                  <a:pt x="7908541" y="6893557"/>
                </a:lnTo>
                <a:lnTo>
                  <a:pt x="0" y="68935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728216" y="5509260"/>
            <a:ext cx="6601968" cy="2286000"/>
            <a:chOff x="0" y="0"/>
            <a:chExt cx="8802624" cy="3048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802624" cy="3048000"/>
            </a:xfrm>
            <a:custGeom>
              <a:avLst/>
              <a:gdLst/>
              <a:ahLst/>
              <a:cxnLst/>
              <a:rect l="l" t="t" r="r" b="b"/>
              <a:pathLst>
                <a:path w="8802624" h="3048000">
                  <a:moveTo>
                    <a:pt x="0" y="0"/>
                  </a:moveTo>
                  <a:lnTo>
                    <a:pt x="8802624" y="0"/>
                  </a:lnTo>
                  <a:lnTo>
                    <a:pt x="8802624" y="3048000"/>
                  </a:lnTo>
                  <a:lnTo>
                    <a:pt x="0" y="304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9957816" y="5509260"/>
            <a:ext cx="6601968" cy="2857500"/>
            <a:chOff x="0" y="0"/>
            <a:chExt cx="8802624" cy="3810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802624" cy="3810000"/>
            </a:xfrm>
            <a:custGeom>
              <a:avLst/>
              <a:gdLst/>
              <a:ahLst/>
              <a:cxnLst/>
              <a:rect l="l" t="t" r="r" b="b"/>
              <a:pathLst>
                <a:path w="8802624" h="3810000">
                  <a:moveTo>
                    <a:pt x="0" y="0"/>
                  </a:moveTo>
                  <a:lnTo>
                    <a:pt x="8802624" y="0"/>
                  </a:lnTo>
                  <a:lnTo>
                    <a:pt x="8802624" y="3810000"/>
                  </a:lnTo>
                  <a:lnTo>
                    <a:pt x="0" y="381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0315956" y="5865876"/>
            <a:ext cx="5885688" cy="2144268"/>
            <a:chOff x="0" y="0"/>
            <a:chExt cx="7847584" cy="285902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847584" cy="2859024"/>
            </a:xfrm>
            <a:custGeom>
              <a:avLst/>
              <a:gdLst/>
              <a:ahLst/>
              <a:cxnLst/>
              <a:rect l="l" t="t" r="r" b="b"/>
              <a:pathLst>
                <a:path w="7847584" h="2859024">
                  <a:moveTo>
                    <a:pt x="0" y="0"/>
                  </a:moveTo>
                  <a:lnTo>
                    <a:pt x="7847584" y="0"/>
                  </a:lnTo>
                  <a:lnTo>
                    <a:pt x="7847584" y="2859024"/>
                  </a:lnTo>
                  <a:lnTo>
                    <a:pt x="0" y="28590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3605784" y="6414516"/>
            <a:ext cx="2846832" cy="554736"/>
            <a:chOff x="0" y="0"/>
            <a:chExt cx="3795776" cy="73964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795776" cy="739648"/>
            </a:xfrm>
            <a:custGeom>
              <a:avLst/>
              <a:gdLst/>
              <a:ahLst/>
              <a:cxnLst/>
              <a:rect l="l" t="t" r="r" b="b"/>
              <a:pathLst>
                <a:path w="3795776" h="739648">
                  <a:moveTo>
                    <a:pt x="0" y="0"/>
                  </a:moveTo>
                  <a:lnTo>
                    <a:pt x="3795776" y="0"/>
                  </a:lnTo>
                  <a:lnTo>
                    <a:pt x="3795776" y="739648"/>
                  </a:lnTo>
                  <a:lnTo>
                    <a:pt x="0" y="7396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143000" y="756599"/>
            <a:ext cx="7345613" cy="942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400" b="1" i="1">
                <a:solidFill>
                  <a:srgbClr val="1A1A1A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The Sigmoid Function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763202" y="1911572"/>
            <a:ext cx="97231" cy="471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3000" y="1911572"/>
            <a:ext cx="10649436" cy="471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Squashinginfinitelinearpredictionsintoabounded probability curve.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28854" y="3579228"/>
            <a:ext cx="3470900" cy="558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8"/>
              </a:lnSpc>
            </a:pPr>
            <a:r>
              <a:rPr lang="en-US" sz="3156" b="1" i="1">
                <a:solidFill>
                  <a:srgbClr val="1F293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The S-Curve Math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430523" y="4318292"/>
            <a:ext cx="81239" cy="395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256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959340" y="3579228"/>
            <a:ext cx="3790245" cy="558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8"/>
              </a:lnSpc>
            </a:pPr>
            <a:r>
              <a:rPr lang="en-US" sz="3156" b="1" i="1">
                <a:solidFill>
                  <a:srgbClr val="1F293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Decision Threshold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134686" y="4318292"/>
            <a:ext cx="81239" cy="395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256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728854" y="4318292"/>
            <a:ext cx="6562763" cy="395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256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Mapsanyreal-valuednumber into the (0, 1) range.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959340" y="4318292"/>
            <a:ext cx="6620446" cy="395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256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Acutoff(usually0.5)determines the final predicted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959340" y="4661192"/>
            <a:ext cx="747846" cy="395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256" spc="2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class.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957454" y="8877271"/>
            <a:ext cx="1036368" cy="241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8"/>
              </a:lnSpc>
            </a:pPr>
            <a:r>
              <a:rPr lang="en-US" sz="1355" b="1" i="1">
                <a:solidFill>
                  <a:srgbClr val="115E59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ACTIVATION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187940" y="8877271"/>
            <a:ext cx="1093289" cy="241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8"/>
              </a:lnSpc>
            </a:pPr>
            <a:r>
              <a:rPr lang="en-US" sz="1355" b="1" i="1">
                <a:solidFill>
                  <a:srgbClr val="B45309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THRESHOLD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4925" y="2998213"/>
            <a:ext cx="7908541" cy="6893557"/>
          </a:xfrm>
          <a:custGeom>
            <a:avLst/>
            <a:gdLst/>
            <a:ahLst/>
            <a:cxnLst/>
            <a:rect l="l" t="t" r="r" b="b"/>
            <a:pathLst>
              <a:path w="7908541" h="6893557">
                <a:moveTo>
                  <a:pt x="0" y="0"/>
                </a:moveTo>
                <a:lnTo>
                  <a:pt x="7908541" y="0"/>
                </a:lnTo>
                <a:lnTo>
                  <a:pt x="7908541" y="6893557"/>
                </a:lnTo>
                <a:lnTo>
                  <a:pt x="0" y="68935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304525" y="2998213"/>
            <a:ext cx="7908541" cy="6893557"/>
          </a:xfrm>
          <a:custGeom>
            <a:avLst/>
            <a:gdLst/>
            <a:ahLst/>
            <a:cxnLst/>
            <a:rect l="l" t="t" r="r" b="b"/>
            <a:pathLst>
              <a:path w="7908541" h="6893557">
                <a:moveTo>
                  <a:pt x="0" y="0"/>
                </a:moveTo>
                <a:lnTo>
                  <a:pt x="7908541" y="0"/>
                </a:lnTo>
                <a:lnTo>
                  <a:pt x="7908541" y="6893557"/>
                </a:lnTo>
                <a:lnTo>
                  <a:pt x="0" y="68935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9957816" y="5509260"/>
            <a:ext cx="6601968" cy="2857500"/>
            <a:chOff x="0" y="0"/>
            <a:chExt cx="8802624" cy="3810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802624" cy="3810000"/>
            </a:xfrm>
            <a:custGeom>
              <a:avLst/>
              <a:gdLst/>
              <a:ahLst/>
              <a:cxnLst/>
              <a:rect l="l" t="t" r="r" b="b"/>
              <a:pathLst>
                <a:path w="8802624" h="3810000">
                  <a:moveTo>
                    <a:pt x="0" y="0"/>
                  </a:moveTo>
                  <a:lnTo>
                    <a:pt x="8802624" y="0"/>
                  </a:lnTo>
                  <a:lnTo>
                    <a:pt x="8802624" y="3810000"/>
                  </a:lnTo>
                  <a:lnTo>
                    <a:pt x="0" y="381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0315956" y="5865876"/>
            <a:ext cx="5885688" cy="2144268"/>
            <a:chOff x="0" y="0"/>
            <a:chExt cx="7847584" cy="285902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847584" cy="2859024"/>
            </a:xfrm>
            <a:custGeom>
              <a:avLst/>
              <a:gdLst/>
              <a:ahLst/>
              <a:cxnLst/>
              <a:rect l="l" t="t" r="r" b="b"/>
              <a:pathLst>
                <a:path w="7847584" h="2859024">
                  <a:moveTo>
                    <a:pt x="0" y="0"/>
                  </a:moveTo>
                  <a:lnTo>
                    <a:pt x="7847584" y="0"/>
                  </a:lnTo>
                  <a:lnTo>
                    <a:pt x="7847584" y="2859024"/>
                  </a:lnTo>
                  <a:lnTo>
                    <a:pt x="0" y="28590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143000" y="756599"/>
            <a:ext cx="9133608" cy="942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400" b="1" i="1">
                <a:solidFill>
                  <a:srgbClr val="1A1A1A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k-Nearest Neighbors (k-NN)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668562" y="1911572"/>
            <a:ext cx="97231" cy="471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43000" y="1911572"/>
            <a:ext cx="9988744" cy="471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Predictingoutcomesbasedonspatialproximity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infeaturespace.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28854" y="3579228"/>
            <a:ext cx="4219108" cy="558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8"/>
              </a:lnSpc>
            </a:pPr>
            <a:r>
              <a:rPr lang="en-US" sz="3156" b="1" i="1">
                <a:solidFill>
                  <a:srgbClr val="1F293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Distance as Similarity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08135" y="4318292"/>
            <a:ext cx="81239" cy="395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256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59340" y="3579228"/>
            <a:ext cx="3372422" cy="558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8"/>
              </a:lnSpc>
            </a:pPr>
            <a:r>
              <a:rPr lang="en-US" sz="3156" b="1" i="1">
                <a:solidFill>
                  <a:srgbClr val="1F293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The Majority Vote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453573" y="4318292"/>
            <a:ext cx="81239" cy="395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256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28854" y="4356392"/>
            <a:ext cx="6705495" cy="699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6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Assumessimilardatapointsexistin close proximity to each other.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959340" y="4318292"/>
            <a:ext cx="5990082" cy="395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256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Thehyperparameter 'k' determines how many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959340" y="4661192"/>
            <a:ext cx="4439441" cy="395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256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neighbors influence the prediction.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957454" y="8877271"/>
            <a:ext cx="1544679" cy="241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8"/>
              </a:lnSpc>
            </a:pPr>
            <a:r>
              <a:rPr lang="en-US" sz="1355" b="1" i="1">
                <a:solidFill>
                  <a:srgbClr val="1E3A8A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INSTANCE-BASED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187940" y="8877271"/>
            <a:ext cx="1595199" cy="241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8"/>
              </a:lnSpc>
            </a:pPr>
            <a:r>
              <a:rPr lang="en-US" sz="1355" b="1" i="1">
                <a:solidFill>
                  <a:srgbClr val="5B21B6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NON-PARAMETRIC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086099" y="5827519"/>
            <a:ext cx="1241184" cy="351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2"/>
              </a:lnSpc>
            </a:pPr>
            <a:r>
              <a:rPr lang="en-US" sz="2030" b="1" i="1">
                <a:solidFill>
                  <a:srgbClr val="374151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Euclidean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086099" y="6541894"/>
            <a:ext cx="1312459" cy="351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2"/>
              </a:lnSpc>
            </a:pPr>
            <a:r>
              <a:rPr lang="en-US" sz="2030" b="1" i="1">
                <a:solidFill>
                  <a:srgbClr val="374151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Manhattan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701284" y="5825261"/>
            <a:ext cx="2175100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Straight-line distance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072883" y="6539760"/>
            <a:ext cx="1798920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Grid-like distance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572630" y="7254135"/>
            <a:ext cx="2276923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Angle-based similarity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086099" y="7256936"/>
            <a:ext cx="875862" cy="351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9"/>
              </a:lnSpc>
            </a:pPr>
            <a:r>
              <a:rPr lang="en-US" sz="2028" b="1" i="1">
                <a:solidFill>
                  <a:srgbClr val="374151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Cosine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4925" y="2998213"/>
            <a:ext cx="7908541" cy="6893557"/>
          </a:xfrm>
          <a:custGeom>
            <a:avLst/>
            <a:gdLst/>
            <a:ahLst/>
            <a:cxnLst/>
            <a:rect l="l" t="t" r="r" b="b"/>
            <a:pathLst>
              <a:path w="7908541" h="6893557">
                <a:moveTo>
                  <a:pt x="0" y="0"/>
                </a:moveTo>
                <a:lnTo>
                  <a:pt x="7908541" y="0"/>
                </a:lnTo>
                <a:lnTo>
                  <a:pt x="7908541" y="6893557"/>
                </a:lnTo>
                <a:lnTo>
                  <a:pt x="0" y="68935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304525" y="2998213"/>
            <a:ext cx="7908541" cy="6893557"/>
          </a:xfrm>
          <a:custGeom>
            <a:avLst/>
            <a:gdLst/>
            <a:ahLst/>
            <a:cxnLst/>
            <a:rect l="l" t="t" r="r" b="b"/>
            <a:pathLst>
              <a:path w="7908541" h="6893557">
                <a:moveTo>
                  <a:pt x="0" y="0"/>
                </a:moveTo>
                <a:lnTo>
                  <a:pt x="7908541" y="0"/>
                </a:lnTo>
                <a:lnTo>
                  <a:pt x="7908541" y="6893557"/>
                </a:lnTo>
                <a:lnTo>
                  <a:pt x="0" y="68935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728216" y="5509260"/>
            <a:ext cx="6601968" cy="2857500"/>
            <a:chOff x="0" y="0"/>
            <a:chExt cx="8802624" cy="3810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802624" cy="3810000"/>
            </a:xfrm>
            <a:custGeom>
              <a:avLst/>
              <a:gdLst/>
              <a:ahLst/>
              <a:cxnLst/>
              <a:rect l="l" t="t" r="r" b="b"/>
              <a:pathLst>
                <a:path w="8802624" h="3810000">
                  <a:moveTo>
                    <a:pt x="0" y="0"/>
                  </a:moveTo>
                  <a:lnTo>
                    <a:pt x="8802624" y="0"/>
                  </a:lnTo>
                  <a:lnTo>
                    <a:pt x="8802624" y="3810000"/>
                  </a:lnTo>
                  <a:lnTo>
                    <a:pt x="0" y="381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9957816" y="5509260"/>
            <a:ext cx="6601968" cy="2857500"/>
            <a:chOff x="0" y="0"/>
            <a:chExt cx="8802624" cy="3810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802624" cy="3810000"/>
            </a:xfrm>
            <a:custGeom>
              <a:avLst/>
              <a:gdLst/>
              <a:ahLst/>
              <a:cxnLst/>
              <a:rect l="l" t="t" r="r" b="b"/>
              <a:pathLst>
                <a:path w="8802624" h="3810000">
                  <a:moveTo>
                    <a:pt x="0" y="0"/>
                  </a:moveTo>
                  <a:lnTo>
                    <a:pt x="8802624" y="0"/>
                  </a:lnTo>
                  <a:lnTo>
                    <a:pt x="8802624" y="3810000"/>
                  </a:lnTo>
                  <a:lnTo>
                    <a:pt x="0" y="381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2086356" y="5865876"/>
            <a:ext cx="5885688" cy="2144268"/>
            <a:chOff x="0" y="0"/>
            <a:chExt cx="7847584" cy="285902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847584" cy="2859024"/>
            </a:xfrm>
            <a:custGeom>
              <a:avLst/>
              <a:gdLst/>
              <a:ahLst/>
              <a:cxnLst/>
              <a:rect l="l" t="t" r="r" b="b"/>
              <a:pathLst>
                <a:path w="7847584" h="2859024">
                  <a:moveTo>
                    <a:pt x="0" y="0"/>
                  </a:moveTo>
                  <a:lnTo>
                    <a:pt x="7847584" y="0"/>
                  </a:lnTo>
                  <a:lnTo>
                    <a:pt x="7847584" y="2859024"/>
                  </a:lnTo>
                  <a:lnTo>
                    <a:pt x="0" y="28590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0315956" y="5865876"/>
            <a:ext cx="5885688" cy="2144268"/>
            <a:chOff x="0" y="0"/>
            <a:chExt cx="7847584" cy="285902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847584" cy="2859024"/>
            </a:xfrm>
            <a:custGeom>
              <a:avLst/>
              <a:gdLst/>
              <a:ahLst/>
              <a:cxnLst/>
              <a:rect l="l" t="t" r="r" b="b"/>
              <a:pathLst>
                <a:path w="7847584" h="2859024">
                  <a:moveTo>
                    <a:pt x="0" y="0"/>
                  </a:moveTo>
                  <a:lnTo>
                    <a:pt x="7847584" y="0"/>
                  </a:lnTo>
                  <a:lnTo>
                    <a:pt x="7847584" y="2859024"/>
                  </a:lnTo>
                  <a:lnTo>
                    <a:pt x="0" y="28590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143000" y="756599"/>
            <a:ext cx="4936484" cy="942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400" b="1" i="1">
                <a:solidFill>
                  <a:srgbClr val="1A1A1A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Decision Trees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477224" y="1911572"/>
            <a:ext cx="97231" cy="471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3000" y="1911572"/>
            <a:ext cx="9327842" cy="471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Learningthroughasequentialhierarchy of if-then-else rules.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28854" y="3579228"/>
            <a:ext cx="3698262" cy="558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8"/>
              </a:lnSpc>
            </a:pPr>
            <a:r>
              <a:rPr lang="en-US" sz="3156" b="1" i="1">
                <a:solidFill>
                  <a:srgbClr val="1F293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Recursive Splitting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668895" y="4318292"/>
            <a:ext cx="81239" cy="395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256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959340" y="3579228"/>
            <a:ext cx="4516479" cy="558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8"/>
              </a:lnSpc>
            </a:pPr>
            <a:r>
              <a:rPr lang="en-US" sz="3156" b="1" i="1">
                <a:solidFill>
                  <a:srgbClr val="1F293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Non-Linear Boundaries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963275" y="4318292"/>
            <a:ext cx="81239" cy="395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256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728854" y="4356392"/>
            <a:ext cx="6851028" cy="699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6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Dividesdatacontinuouslytomaximize purity at each new node.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959340" y="4356392"/>
            <a:ext cx="6868344" cy="699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6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Createsrigid,box-likedecisionregions in the feature space.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957454" y="8877271"/>
            <a:ext cx="1145181" cy="241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8"/>
              </a:lnSpc>
            </a:pPr>
            <a:r>
              <a:rPr lang="en-US" sz="1355" b="1" i="1">
                <a:solidFill>
                  <a:srgbClr val="B45309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RULE-BASED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187940" y="8877271"/>
            <a:ext cx="1453553" cy="241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8"/>
              </a:lnSpc>
            </a:pPr>
            <a:r>
              <a:rPr lang="en-US" sz="1355" b="1" i="1">
                <a:solidFill>
                  <a:srgbClr val="166534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INTERPRETABLE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9497" y="3150613"/>
            <a:ext cx="7899397" cy="5113525"/>
          </a:xfrm>
          <a:custGeom>
            <a:avLst/>
            <a:gdLst/>
            <a:ahLst/>
            <a:cxnLst/>
            <a:rect l="l" t="t" r="r" b="b"/>
            <a:pathLst>
              <a:path w="7899397" h="5113525">
                <a:moveTo>
                  <a:pt x="0" y="0"/>
                </a:moveTo>
                <a:lnTo>
                  <a:pt x="7899397" y="0"/>
                </a:lnTo>
                <a:lnTo>
                  <a:pt x="7899397" y="5113525"/>
                </a:lnTo>
                <a:lnTo>
                  <a:pt x="0" y="51135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74925" y="8475469"/>
            <a:ext cx="16138141" cy="965197"/>
          </a:xfrm>
          <a:custGeom>
            <a:avLst/>
            <a:gdLst/>
            <a:ahLst/>
            <a:cxnLst/>
            <a:rect l="l" t="t" r="r" b="b"/>
            <a:pathLst>
              <a:path w="16138141" h="965197">
                <a:moveTo>
                  <a:pt x="0" y="0"/>
                </a:moveTo>
                <a:lnTo>
                  <a:pt x="16138141" y="0"/>
                </a:lnTo>
                <a:lnTo>
                  <a:pt x="16138141" y="965197"/>
                </a:lnTo>
                <a:lnTo>
                  <a:pt x="0" y="9651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309097" y="3150613"/>
            <a:ext cx="7899397" cy="5113525"/>
          </a:xfrm>
          <a:custGeom>
            <a:avLst/>
            <a:gdLst/>
            <a:ahLst/>
            <a:cxnLst/>
            <a:rect l="l" t="t" r="r" b="b"/>
            <a:pathLst>
              <a:path w="7899397" h="5113525">
                <a:moveTo>
                  <a:pt x="0" y="0"/>
                </a:moveTo>
                <a:lnTo>
                  <a:pt x="7899397" y="0"/>
                </a:lnTo>
                <a:lnTo>
                  <a:pt x="7899397" y="5113525"/>
                </a:lnTo>
                <a:lnTo>
                  <a:pt x="0" y="51135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4457700" y="8843772"/>
            <a:ext cx="228600" cy="228600"/>
            <a:chOff x="0" y="0"/>
            <a:chExt cx="304800" cy="304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1143000" y="1258557"/>
            <a:ext cx="9066895" cy="778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1" i="1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What is Unsupervised Learning?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894162" y="2252005"/>
            <a:ext cx="81239" cy="395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256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43000" y="2252005"/>
            <a:ext cx="11463776" cy="395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256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Unsupervisedlearningdiscoverspatternsandstructureindatawithoutpredefined labels.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527430" y="6167018"/>
            <a:ext cx="5100866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i="1">
                <a:solidFill>
                  <a:srgbClr val="1E40AF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Input + Correct Answer → Model → Prediction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957315" y="8767515"/>
            <a:ext cx="8888054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i="1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Give the model data without labels → let it discover hidden structure on its own.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26367" y="6045346"/>
            <a:ext cx="5983205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i="1">
                <a:solidFill>
                  <a:srgbClr val="3A5C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Raw Unlabeled Data → Model → Discovered Structure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43154" y="4725000"/>
            <a:ext cx="2082403" cy="241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8"/>
              </a:lnSpc>
            </a:pPr>
            <a:r>
              <a:rPr lang="en-US" sz="1355" b="1" i="1">
                <a:solidFill>
                  <a:srgbClr val="1E40AF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SUPERVISED LEARNING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073640" y="4574762"/>
            <a:ext cx="2338683" cy="241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8"/>
              </a:lnSpc>
            </a:pPr>
            <a:r>
              <a:rPr lang="en-US" sz="1355" b="1" i="1">
                <a:solidFill>
                  <a:srgbClr val="3A5C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UNSUPERVISED LEARNING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71828" y="5241627"/>
            <a:ext cx="3647342" cy="427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0"/>
              </a:lnSpc>
            </a:pPr>
            <a:r>
              <a:rPr lang="en-US" sz="2472" b="1" i="1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Learning with a Teacher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902066" y="5120345"/>
            <a:ext cx="3421551" cy="427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0"/>
              </a:lnSpc>
            </a:pPr>
            <a:r>
              <a:rPr lang="en-US" sz="2472" b="1" i="1" spc="2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Self-Guided Discovery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4925" y="3847081"/>
            <a:ext cx="3600193" cy="3264913"/>
          </a:xfrm>
          <a:custGeom>
            <a:avLst/>
            <a:gdLst/>
            <a:ahLst/>
            <a:cxnLst/>
            <a:rect l="l" t="t" r="r" b="b"/>
            <a:pathLst>
              <a:path w="3600193" h="3264913">
                <a:moveTo>
                  <a:pt x="0" y="0"/>
                </a:moveTo>
                <a:lnTo>
                  <a:pt x="3600193" y="0"/>
                </a:lnTo>
                <a:lnTo>
                  <a:pt x="3600193" y="3264913"/>
                </a:lnTo>
                <a:lnTo>
                  <a:pt x="0" y="32649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253733" y="3847081"/>
            <a:ext cx="3601717" cy="3264913"/>
          </a:xfrm>
          <a:custGeom>
            <a:avLst/>
            <a:gdLst/>
            <a:ahLst/>
            <a:cxnLst/>
            <a:rect l="l" t="t" r="r" b="b"/>
            <a:pathLst>
              <a:path w="3601717" h="3264913">
                <a:moveTo>
                  <a:pt x="0" y="0"/>
                </a:moveTo>
                <a:lnTo>
                  <a:pt x="3601717" y="0"/>
                </a:lnTo>
                <a:lnTo>
                  <a:pt x="3601717" y="3264913"/>
                </a:lnTo>
                <a:lnTo>
                  <a:pt x="0" y="32649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432541" y="3682489"/>
            <a:ext cx="3601717" cy="3594097"/>
          </a:xfrm>
          <a:custGeom>
            <a:avLst/>
            <a:gdLst/>
            <a:ahLst/>
            <a:cxnLst/>
            <a:rect l="l" t="t" r="r" b="b"/>
            <a:pathLst>
              <a:path w="3601717" h="3594097">
                <a:moveTo>
                  <a:pt x="0" y="0"/>
                </a:moveTo>
                <a:lnTo>
                  <a:pt x="3601717" y="0"/>
                </a:lnTo>
                <a:lnTo>
                  <a:pt x="3601717" y="3594097"/>
                </a:lnTo>
                <a:lnTo>
                  <a:pt x="0" y="35940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74925" y="8475469"/>
            <a:ext cx="16138141" cy="965197"/>
          </a:xfrm>
          <a:custGeom>
            <a:avLst/>
            <a:gdLst/>
            <a:ahLst/>
            <a:cxnLst/>
            <a:rect l="l" t="t" r="r" b="b"/>
            <a:pathLst>
              <a:path w="16138141" h="965197">
                <a:moveTo>
                  <a:pt x="0" y="0"/>
                </a:moveTo>
                <a:lnTo>
                  <a:pt x="16138141" y="0"/>
                </a:lnTo>
                <a:lnTo>
                  <a:pt x="16138141" y="965197"/>
                </a:lnTo>
                <a:lnTo>
                  <a:pt x="0" y="9651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612873" y="3682489"/>
            <a:ext cx="3600193" cy="3594097"/>
          </a:xfrm>
          <a:custGeom>
            <a:avLst/>
            <a:gdLst/>
            <a:ahLst/>
            <a:cxnLst/>
            <a:rect l="l" t="t" r="r" b="b"/>
            <a:pathLst>
              <a:path w="3600193" h="3594097">
                <a:moveTo>
                  <a:pt x="0" y="0"/>
                </a:moveTo>
                <a:lnTo>
                  <a:pt x="3600193" y="0"/>
                </a:lnTo>
                <a:lnTo>
                  <a:pt x="3600193" y="3594097"/>
                </a:lnTo>
                <a:lnTo>
                  <a:pt x="0" y="359409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4835652" y="5337048"/>
            <a:ext cx="257556" cy="284988"/>
            <a:chOff x="0" y="0"/>
            <a:chExt cx="343408" cy="37998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43408" cy="379984"/>
            </a:xfrm>
            <a:custGeom>
              <a:avLst/>
              <a:gdLst/>
              <a:ahLst/>
              <a:cxnLst/>
              <a:rect l="l" t="t" r="r" b="b"/>
              <a:pathLst>
                <a:path w="343408" h="379984">
                  <a:moveTo>
                    <a:pt x="0" y="0"/>
                  </a:moveTo>
                  <a:lnTo>
                    <a:pt x="343408" y="0"/>
                  </a:lnTo>
                  <a:lnTo>
                    <a:pt x="343408" y="379984"/>
                  </a:lnTo>
                  <a:lnTo>
                    <a:pt x="0" y="379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9015984" y="5337048"/>
            <a:ext cx="256032" cy="284988"/>
            <a:chOff x="0" y="0"/>
            <a:chExt cx="341376" cy="37998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41376" cy="379984"/>
            </a:xfrm>
            <a:custGeom>
              <a:avLst/>
              <a:gdLst/>
              <a:ahLst/>
              <a:cxnLst/>
              <a:rect l="l" t="t" r="r" b="b"/>
              <a:pathLst>
                <a:path w="341376" h="379984">
                  <a:moveTo>
                    <a:pt x="0" y="0"/>
                  </a:moveTo>
                  <a:lnTo>
                    <a:pt x="341376" y="0"/>
                  </a:lnTo>
                  <a:lnTo>
                    <a:pt x="341376" y="379984"/>
                  </a:lnTo>
                  <a:lnTo>
                    <a:pt x="0" y="379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3194792" y="5337048"/>
            <a:ext cx="257556" cy="284988"/>
            <a:chOff x="0" y="0"/>
            <a:chExt cx="343408" cy="37998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43408" cy="379984"/>
            </a:xfrm>
            <a:custGeom>
              <a:avLst/>
              <a:gdLst/>
              <a:ahLst/>
              <a:cxnLst/>
              <a:rect l="l" t="t" r="r" b="b"/>
              <a:pathLst>
                <a:path w="343408" h="379984">
                  <a:moveTo>
                    <a:pt x="0" y="0"/>
                  </a:moveTo>
                  <a:lnTo>
                    <a:pt x="343408" y="0"/>
                  </a:lnTo>
                  <a:lnTo>
                    <a:pt x="343408" y="379984"/>
                  </a:lnTo>
                  <a:lnTo>
                    <a:pt x="0" y="379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2418588" y="4386072"/>
            <a:ext cx="914400" cy="914400"/>
            <a:chOff x="0" y="0"/>
            <a:chExt cx="1219200" cy="1219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6597396" y="4386072"/>
            <a:ext cx="914400" cy="914400"/>
            <a:chOff x="0" y="0"/>
            <a:chExt cx="1219200" cy="12192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10776204" y="4221480"/>
            <a:ext cx="914400" cy="914400"/>
            <a:chOff x="0" y="0"/>
            <a:chExt cx="1219200" cy="12192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14955012" y="4221480"/>
            <a:ext cx="914400" cy="914400"/>
            <a:chOff x="0" y="0"/>
            <a:chExt cx="1219200" cy="1219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/>
              </a:stretch>
            </a:blipFill>
          </p:spPr>
        </p:sp>
      </p:grpSp>
      <p:grpSp>
        <p:nvGrpSpPr>
          <p:cNvPr id="21" name="Group 21"/>
          <p:cNvGrpSpPr/>
          <p:nvPr/>
        </p:nvGrpSpPr>
        <p:grpSpPr>
          <a:xfrm>
            <a:off x="3557016" y="8843772"/>
            <a:ext cx="228600" cy="228600"/>
            <a:chOff x="0" y="0"/>
            <a:chExt cx="304800" cy="304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/>
              </a:stretch>
            </a:blipFill>
          </p:spPr>
        </p:sp>
      </p:grpSp>
      <p:grpSp>
        <p:nvGrpSpPr>
          <p:cNvPr id="23" name="Group 23"/>
          <p:cNvGrpSpPr/>
          <p:nvPr/>
        </p:nvGrpSpPr>
        <p:grpSpPr>
          <a:xfrm>
            <a:off x="2682240" y="4672584"/>
            <a:ext cx="385572" cy="342900"/>
            <a:chOff x="0" y="0"/>
            <a:chExt cx="514096" cy="4572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14096" cy="457200"/>
            </a:xfrm>
            <a:custGeom>
              <a:avLst/>
              <a:gdLst/>
              <a:ahLst/>
              <a:cxnLst/>
              <a:rect l="l" t="t" r="r" b="b"/>
              <a:pathLst>
                <a:path w="514096" h="457200">
                  <a:moveTo>
                    <a:pt x="0" y="0"/>
                  </a:moveTo>
                  <a:lnTo>
                    <a:pt x="514096" y="0"/>
                  </a:lnTo>
                  <a:lnTo>
                    <a:pt x="514096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/>
              </a:stretch>
            </a:blipFill>
          </p:spPr>
        </p:sp>
      </p:grpSp>
      <p:grpSp>
        <p:nvGrpSpPr>
          <p:cNvPr id="25" name="Group 25"/>
          <p:cNvGrpSpPr/>
          <p:nvPr/>
        </p:nvGrpSpPr>
        <p:grpSpPr>
          <a:xfrm>
            <a:off x="6861048" y="4672584"/>
            <a:ext cx="385572" cy="342900"/>
            <a:chOff x="0" y="0"/>
            <a:chExt cx="514096" cy="4572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14096" cy="457200"/>
            </a:xfrm>
            <a:custGeom>
              <a:avLst/>
              <a:gdLst/>
              <a:ahLst/>
              <a:cxnLst/>
              <a:rect l="l" t="t" r="r" b="b"/>
              <a:pathLst>
                <a:path w="514096" h="457200">
                  <a:moveTo>
                    <a:pt x="0" y="0"/>
                  </a:moveTo>
                  <a:lnTo>
                    <a:pt x="514096" y="0"/>
                  </a:lnTo>
                  <a:lnTo>
                    <a:pt x="514096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/>
              </a:stretch>
            </a:blipFill>
          </p:spPr>
        </p:sp>
      </p:grpSp>
      <p:grpSp>
        <p:nvGrpSpPr>
          <p:cNvPr id="27" name="Group 27"/>
          <p:cNvGrpSpPr/>
          <p:nvPr/>
        </p:nvGrpSpPr>
        <p:grpSpPr>
          <a:xfrm>
            <a:off x="11041380" y="4507992"/>
            <a:ext cx="385572" cy="342900"/>
            <a:chOff x="0" y="0"/>
            <a:chExt cx="514096" cy="4572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14096" cy="457200"/>
            </a:xfrm>
            <a:custGeom>
              <a:avLst/>
              <a:gdLst/>
              <a:ahLst/>
              <a:cxnLst/>
              <a:rect l="l" t="t" r="r" b="b"/>
              <a:pathLst>
                <a:path w="514096" h="457200">
                  <a:moveTo>
                    <a:pt x="0" y="0"/>
                  </a:moveTo>
                  <a:lnTo>
                    <a:pt x="514096" y="0"/>
                  </a:lnTo>
                  <a:lnTo>
                    <a:pt x="514096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/>
              </a:stretch>
            </a:blipFill>
          </p:spPr>
        </p:sp>
      </p:grpSp>
      <p:grpSp>
        <p:nvGrpSpPr>
          <p:cNvPr id="29" name="Group 29"/>
          <p:cNvGrpSpPr/>
          <p:nvPr/>
        </p:nvGrpSpPr>
        <p:grpSpPr>
          <a:xfrm>
            <a:off x="15198852" y="4507992"/>
            <a:ext cx="428244" cy="342900"/>
            <a:chOff x="0" y="0"/>
            <a:chExt cx="570992" cy="4572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70992" cy="457200"/>
            </a:xfrm>
            <a:custGeom>
              <a:avLst/>
              <a:gdLst/>
              <a:ahLst/>
              <a:cxnLst/>
              <a:rect l="l" t="t" r="r" b="b"/>
              <a:pathLst>
                <a:path w="570992" h="457200">
                  <a:moveTo>
                    <a:pt x="0" y="0"/>
                  </a:moveTo>
                  <a:lnTo>
                    <a:pt x="570992" y="0"/>
                  </a:lnTo>
                  <a:lnTo>
                    <a:pt x="570992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/>
              </a:stretch>
            </a:blipFill>
          </p:spPr>
        </p:sp>
      </p:grpSp>
      <p:sp>
        <p:nvSpPr>
          <p:cNvPr id="31" name="TextBox 31"/>
          <p:cNvSpPr txBox="1"/>
          <p:nvPr/>
        </p:nvSpPr>
        <p:spPr>
          <a:xfrm>
            <a:off x="1502664" y="6047623"/>
            <a:ext cx="2854585" cy="283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1572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Unlabeled inputs without target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520696" y="6286891"/>
            <a:ext cx="724538" cy="283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1572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outputs.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749166" y="6047623"/>
            <a:ext cx="2718349" cy="283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1572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Evaluates distance, density &amp;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559934" y="6286891"/>
            <a:ext cx="1008412" cy="283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1572" spc="1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correlation.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689335" y="6211834"/>
            <a:ext cx="3150060" cy="283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1572" spc="1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Groups, dimensions, or anomalies.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4202413" y="6211834"/>
            <a:ext cx="2525506" cy="283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1572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Humans assign meaning to 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5025373" y="6451102"/>
            <a:ext cx="792966" cy="283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1572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patterns.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43000" y="884311"/>
            <a:ext cx="9801387" cy="1141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2"/>
              </a:lnSpc>
            </a:pPr>
            <a:r>
              <a:rPr lang="en-US" sz="1572" b="1" i="1">
                <a:solidFill>
                  <a:srgbClr val="0F172A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THE DISCOVERY PIPELINE</a:t>
            </a:r>
          </a:p>
          <a:p>
            <a:pPr algn="l">
              <a:lnSpc>
                <a:spcPts val="6219"/>
              </a:lnSpc>
            </a:pPr>
            <a:r>
              <a:rPr lang="en-US" sz="4500" b="1" i="1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How Unsupervised Learning Works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305938" y="8767515"/>
            <a:ext cx="10218801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The algorithm discovers mathematical structure —humans interpret what that structure represents.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153669" y="5490620"/>
            <a:ext cx="1472213" cy="351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9"/>
              </a:lnSpc>
            </a:pPr>
            <a:r>
              <a:rPr lang="en-US" sz="2028" b="1" i="1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1. Raw Data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916425" y="5490620"/>
            <a:ext cx="2320490" cy="351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9"/>
              </a:lnSpc>
            </a:pPr>
            <a:r>
              <a:rPr lang="en-US" sz="2028" b="1" i="1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2. Find Similarities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939785" y="5326409"/>
            <a:ext cx="2639682" cy="351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9"/>
              </a:lnSpc>
            </a:pPr>
            <a:r>
              <a:rPr lang="en-US" sz="2028" b="1" i="1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3. Discover Structure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3969870" y="5326409"/>
            <a:ext cx="2945473" cy="351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9"/>
              </a:lnSpc>
            </a:pPr>
            <a:r>
              <a:rPr lang="en-US" sz="2028" b="1" i="1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4. Human Interpretation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4925" y="2775709"/>
            <a:ext cx="7966453" cy="3228337"/>
          </a:xfrm>
          <a:custGeom>
            <a:avLst/>
            <a:gdLst/>
            <a:ahLst/>
            <a:cxnLst/>
            <a:rect l="l" t="t" r="r" b="b"/>
            <a:pathLst>
              <a:path w="7966453" h="3228337">
                <a:moveTo>
                  <a:pt x="0" y="0"/>
                </a:moveTo>
                <a:lnTo>
                  <a:pt x="7966453" y="0"/>
                </a:lnTo>
                <a:lnTo>
                  <a:pt x="7966453" y="3228337"/>
                </a:lnTo>
                <a:lnTo>
                  <a:pt x="0" y="32283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74925" y="6210805"/>
            <a:ext cx="7966453" cy="3229861"/>
          </a:xfrm>
          <a:custGeom>
            <a:avLst/>
            <a:gdLst/>
            <a:ahLst/>
            <a:cxnLst/>
            <a:rect l="l" t="t" r="r" b="b"/>
            <a:pathLst>
              <a:path w="7966453" h="3229861">
                <a:moveTo>
                  <a:pt x="0" y="0"/>
                </a:moveTo>
                <a:lnTo>
                  <a:pt x="7966453" y="0"/>
                </a:lnTo>
                <a:lnTo>
                  <a:pt x="7966453" y="3229861"/>
                </a:lnTo>
                <a:lnTo>
                  <a:pt x="0" y="32298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248137" y="2775709"/>
            <a:ext cx="7964929" cy="3228337"/>
          </a:xfrm>
          <a:custGeom>
            <a:avLst/>
            <a:gdLst/>
            <a:ahLst/>
            <a:cxnLst/>
            <a:rect l="l" t="t" r="r" b="b"/>
            <a:pathLst>
              <a:path w="7964929" h="3228337">
                <a:moveTo>
                  <a:pt x="0" y="0"/>
                </a:moveTo>
                <a:lnTo>
                  <a:pt x="7964929" y="0"/>
                </a:lnTo>
                <a:lnTo>
                  <a:pt x="7964929" y="3228337"/>
                </a:lnTo>
                <a:lnTo>
                  <a:pt x="0" y="32283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248137" y="6210805"/>
            <a:ext cx="7964929" cy="3229861"/>
          </a:xfrm>
          <a:custGeom>
            <a:avLst/>
            <a:gdLst/>
            <a:ahLst/>
            <a:cxnLst/>
            <a:rect l="l" t="t" r="r" b="b"/>
            <a:pathLst>
              <a:path w="7964929" h="3229861">
                <a:moveTo>
                  <a:pt x="0" y="0"/>
                </a:moveTo>
                <a:lnTo>
                  <a:pt x="7964929" y="0"/>
                </a:lnTo>
                <a:lnTo>
                  <a:pt x="7964929" y="3229861"/>
                </a:lnTo>
                <a:lnTo>
                  <a:pt x="0" y="32298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613916" y="3464052"/>
            <a:ext cx="400812" cy="400812"/>
            <a:chOff x="0" y="0"/>
            <a:chExt cx="534416" cy="53441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34416" cy="534416"/>
            </a:xfrm>
            <a:custGeom>
              <a:avLst/>
              <a:gdLst/>
              <a:ahLst/>
              <a:cxnLst/>
              <a:rect l="l" t="t" r="r" b="b"/>
              <a:pathLst>
                <a:path w="534416" h="534416">
                  <a:moveTo>
                    <a:pt x="0" y="0"/>
                  </a:moveTo>
                  <a:lnTo>
                    <a:pt x="534416" y="0"/>
                  </a:lnTo>
                  <a:lnTo>
                    <a:pt x="534416" y="534416"/>
                  </a:lnTo>
                  <a:lnTo>
                    <a:pt x="0" y="534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9787128" y="3464052"/>
            <a:ext cx="356616" cy="400812"/>
            <a:chOff x="0" y="0"/>
            <a:chExt cx="475488" cy="53441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75488" cy="534416"/>
            </a:xfrm>
            <a:custGeom>
              <a:avLst/>
              <a:gdLst/>
              <a:ahLst/>
              <a:cxnLst/>
              <a:rect l="l" t="t" r="r" b="b"/>
              <a:pathLst>
                <a:path w="475488" h="534416">
                  <a:moveTo>
                    <a:pt x="0" y="0"/>
                  </a:moveTo>
                  <a:lnTo>
                    <a:pt x="475488" y="0"/>
                  </a:lnTo>
                  <a:lnTo>
                    <a:pt x="475488" y="534416"/>
                  </a:lnTo>
                  <a:lnTo>
                    <a:pt x="0" y="534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613916" y="6900672"/>
            <a:ext cx="400812" cy="400812"/>
            <a:chOff x="0" y="0"/>
            <a:chExt cx="534416" cy="53441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34416" cy="534416"/>
            </a:xfrm>
            <a:custGeom>
              <a:avLst/>
              <a:gdLst/>
              <a:ahLst/>
              <a:cxnLst/>
              <a:rect l="l" t="t" r="r" b="b"/>
              <a:pathLst>
                <a:path w="534416" h="534416">
                  <a:moveTo>
                    <a:pt x="0" y="0"/>
                  </a:moveTo>
                  <a:lnTo>
                    <a:pt x="534416" y="0"/>
                  </a:lnTo>
                  <a:lnTo>
                    <a:pt x="534416" y="534416"/>
                  </a:lnTo>
                  <a:lnTo>
                    <a:pt x="0" y="534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9787128" y="6900672"/>
            <a:ext cx="499872" cy="400812"/>
            <a:chOff x="0" y="0"/>
            <a:chExt cx="666496" cy="53441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66496" cy="534416"/>
            </a:xfrm>
            <a:custGeom>
              <a:avLst/>
              <a:gdLst/>
              <a:ahLst/>
              <a:cxnLst/>
              <a:rect l="l" t="t" r="r" b="b"/>
              <a:pathLst>
                <a:path w="666496" h="534416">
                  <a:moveTo>
                    <a:pt x="0" y="0"/>
                  </a:moveTo>
                  <a:lnTo>
                    <a:pt x="666496" y="0"/>
                  </a:lnTo>
                  <a:lnTo>
                    <a:pt x="666496" y="534416"/>
                  </a:lnTo>
                  <a:lnTo>
                    <a:pt x="0" y="534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1143000" y="829932"/>
            <a:ext cx="5756434" cy="778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1" i="1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The Four Main Tasks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65878" y="1766230"/>
            <a:ext cx="81239" cy="395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256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3000" y="1766230"/>
            <a:ext cx="5396836" cy="395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256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Corecapabilitiesofunsupervisedmodels.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14554" y="8567566"/>
            <a:ext cx="3832650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Flags suspicious credit card charges.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14554" y="5130946"/>
            <a:ext cx="4233472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Groups customers by spending behavior.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787766" y="8567566"/>
            <a:ext cx="3719322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"Customers who buy X often buy Y."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787766" y="5130946"/>
            <a:ext cx="4091473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Compresses 100 features into 2D plots.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243328" y="3269952"/>
            <a:ext cx="1940871" cy="427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0"/>
              </a:lnSpc>
            </a:pPr>
            <a:r>
              <a:rPr lang="en-US" sz="2472" b="1" i="1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1. Clustering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873607" y="3732667"/>
            <a:ext cx="56607" cy="283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1572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243328" y="6706572"/>
            <a:ext cx="3248663" cy="427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0"/>
              </a:lnSpc>
            </a:pPr>
            <a:r>
              <a:rPr lang="en-US" sz="2472" b="1" i="1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3. Anomaly Detection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873607" y="7169287"/>
            <a:ext cx="56607" cy="283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1572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516486" y="6706572"/>
            <a:ext cx="3282601" cy="427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0"/>
              </a:lnSpc>
            </a:pPr>
            <a:r>
              <a:rPr lang="en-US" sz="2472" b="1" i="1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4. Association Mining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146765" y="7169287"/>
            <a:ext cx="56607" cy="283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1572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373611" y="3269952"/>
            <a:ext cx="4291632" cy="427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0"/>
              </a:lnSpc>
            </a:pPr>
            <a:r>
              <a:rPr lang="en-US" sz="2472" b="1" i="1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2. Dimensionality Reduction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811637" y="3732667"/>
            <a:ext cx="56607" cy="283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1572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243328" y="7169287"/>
            <a:ext cx="3238233" cy="283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1572" spc="1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"Whichobservationslook</a:t>
            </a:r>
            <a:r>
              <a:rPr lang="en-US" sz="1572" spc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2" spc="1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unusual?"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243328" y="3732667"/>
            <a:ext cx="3350438" cy="283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1572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"Whichdatapointsbelong together?"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516486" y="7169287"/>
            <a:ext cx="2726703" cy="283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1572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"Whichitemsoccurtogether?"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373611" y="3732667"/>
            <a:ext cx="3737172" cy="283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1572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"Canwe</a:t>
            </a:r>
            <a:r>
              <a:rPr lang="en-US" sz="157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2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simplify</a:t>
            </a:r>
            <a:r>
              <a:rPr lang="en-US" sz="157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2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high-dimensionaldata?"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940033" y="5968489"/>
            <a:ext cx="6744205" cy="1707385"/>
          </a:xfrm>
          <a:custGeom>
            <a:avLst/>
            <a:gdLst/>
            <a:ahLst/>
            <a:cxnLst/>
            <a:rect l="l" t="t" r="r" b="b"/>
            <a:pathLst>
              <a:path w="6744205" h="1707385">
                <a:moveTo>
                  <a:pt x="0" y="0"/>
                </a:moveTo>
                <a:lnTo>
                  <a:pt x="6744205" y="0"/>
                </a:lnTo>
                <a:lnTo>
                  <a:pt x="6744205" y="1707385"/>
                </a:lnTo>
                <a:lnTo>
                  <a:pt x="0" y="17073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95400" y="2161032"/>
            <a:ext cx="14706600" cy="7650480"/>
            <a:chOff x="0" y="0"/>
            <a:chExt cx="19608800" cy="102006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608800" cy="10200640"/>
            </a:xfrm>
            <a:custGeom>
              <a:avLst/>
              <a:gdLst/>
              <a:ahLst/>
              <a:cxnLst/>
              <a:rect l="l" t="t" r="r" b="b"/>
              <a:pathLst>
                <a:path w="19608800" h="10200640">
                  <a:moveTo>
                    <a:pt x="0" y="0"/>
                  </a:moveTo>
                  <a:lnTo>
                    <a:pt x="19608800" y="0"/>
                  </a:lnTo>
                  <a:lnTo>
                    <a:pt x="19608800" y="10200640"/>
                  </a:lnTo>
                  <a:lnTo>
                    <a:pt x="0" y="10200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1143000" y="829932"/>
            <a:ext cx="9747752" cy="778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1" i="1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Clustering: Finding Natural Groups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639168" y="1766230"/>
            <a:ext cx="81239" cy="395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256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43000" y="1766230"/>
            <a:ext cx="7499814" cy="395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256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Discoveringcategoriespurelyfromfeaturecharacteristics.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9497" y="2265169"/>
            <a:ext cx="7785097" cy="7170925"/>
          </a:xfrm>
          <a:custGeom>
            <a:avLst/>
            <a:gdLst/>
            <a:ahLst/>
            <a:cxnLst/>
            <a:rect l="l" t="t" r="r" b="b"/>
            <a:pathLst>
              <a:path w="7785097" h="7170925">
                <a:moveTo>
                  <a:pt x="0" y="0"/>
                </a:moveTo>
                <a:lnTo>
                  <a:pt x="7785097" y="0"/>
                </a:lnTo>
                <a:lnTo>
                  <a:pt x="7785097" y="7170925"/>
                </a:lnTo>
                <a:lnTo>
                  <a:pt x="0" y="71709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423397" y="2265169"/>
            <a:ext cx="7785097" cy="7170925"/>
          </a:xfrm>
          <a:custGeom>
            <a:avLst/>
            <a:gdLst/>
            <a:ahLst/>
            <a:cxnLst/>
            <a:rect l="l" t="t" r="r" b="b"/>
            <a:pathLst>
              <a:path w="7785097" h="7170925">
                <a:moveTo>
                  <a:pt x="0" y="0"/>
                </a:moveTo>
                <a:lnTo>
                  <a:pt x="7785097" y="0"/>
                </a:lnTo>
                <a:lnTo>
                  <a:pt x="7785097" y="7170925"/>
                </a:lnTo>
                <a:lnTo>
                  <a:pt x="0" y="71709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301996" y="829932"/>
            <a:ext cx="7839246" cy="778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1" i="1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Anomalies &amp; Dimensionality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943357" y="4224747"/>
            <a:ext cx="1927479" cy="241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8"/>
              </a:lnSpc>
            </a:pPr>
            <a:r>
              <a:rPr lang="en-US" sz="1355" b="1" i="1">
                <a:solidFill>
                  <a:srgbClr val="991B1B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ANOMALY DETECTION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886" y="4360383"/>
            <a:ext cx="2584952" cy="241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8"/>
              </a:lnSpc>
            </a:pPr>
            <a:r>
              <a:rPr lang="en-US" sz="1355" b="1" i="1">
                <a:solidFill>
                  <a:srgbClr val="1E40AF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DIMENSIONALITY REDUCTION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71774" y="4837405"/>
            <a:ext cx="6645707" cy="1346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6"/>
              </a:lnSpc>
            </a:pPr>
            <a:r>
              <a:rPr lang="en-US" sz="2928" b="1" i="1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Identifies Extreme Outliers</a:t>
            </a:r>
          </a:p>
          <a:p>
            <a:pPr algn="l">
              <a:lnSpc>
                <a:spcPts val="2435"/>
              </a:lnSpc>
            </a:pPr>
            <a:r>
              <a:rPr lang="en-US" sz="2028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Detects observations operating outside expected density bounds.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047190" y="5654678"/>
            <a:ext cx="73123" cy="351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2"/>
              </a:lnSpc>
            </a:pPr>
            <a:r>
              <a:rPr lang="en-US" sz="203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116312" y="5964584"/>
            <a:ext cx="906866" cy="351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9"/>
              </a:lnSpc>
            </a:pPr>
            <a:r>
              <a:rPr lang="en-US" sz="2028" spc="2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spaces.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116312" y="4915605"/>
            <a:ext cx="5182733" cy="515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2"/>
              </a:lnSpc>
            </a:pPr>
            <a:r>
              <a:rPr lang="en-US" sz="2930" b="1" i="1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Simplifies Complex Features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116312" y="5654678"/>
            <a:ext cx="6682502" cy="351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2"/>
              </a:lnSpc>
            </a:pPr>
            <a:r>
              <a:rPr lang="en-US" sz="203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Projects100+ feature dimensions into readable 2D or 3D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14728" y="6732718"/>
            <a:ext cx="5984043" cy="530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8"/>
              </a:lnSpc>
            </a:pPr>
            <a:r>
              <a:rPr lang="en-US" sz="1691" b="1" i="1">
                <a:solidFill>
                  <a:srgbClr val="737373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Applications:</a:t>
            </a:r>
            <a:r>
              <a:rPr lang="en-US" sz="1691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Fraud detection, system intrusions, equipment failures.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359266" y="6840160"/>
            <a:ext cx="4986052" cy="30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8"/>
              </a:lnSpc>
            </a:pPr>
            <a:r>
              <a:rPr lang="en-US" sz="1691" b="1" i="1">
                <a:solidFill>
                  <a:srgbClr val="737373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Key Method:</a:t>
            </a:r>
            <a:r>
              <a:rPr lang="en-US" sz="1691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Principal Component Analysis (PCA).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4925" y="2775709"/>
            <a:ext cx="5165341" cy="6664957"/>
          </a:xfrm>
          <a:custGeom>
            <a:avLst/>
            <a:gdLst/>
            <a:ahLst/>
            <a:cxnLst/>
            <a:rect l="l" t="t" r="r" b="b"/>
            <a:pathLst>
              <a:path w="5165341" h="6664957">
                <a:moveTo>
                  <a:pt x="0" y="0"/>
                </a:moveTo>
                <a:lnTo>
                  <a:pt x="5165341" y="0"/>
                </a:lnTo>
                <a:lnTo>
                  <a:pt x="5165341" y="6664957"/>
                </a:lnTo>
                <a:lnTo>
                  <a:pt x="0" y="66649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561325" y="2775709"/>
            <a:ext cx="5165341" cy="6664957"/>
          </a:xfrm>
          <a:custGeom>
            <a:avLst/>
            <a:gdLst/>
            <a:ahLst/>
            <a:cxnLst/>
            <a:rect l="l" t="t" r="r" b="b"/>
            <a:pathLst>
              <a:path w="5165341" h="6664957">
                <a:moveTo>
                  <a:pt x="0" y="0"/>
                </a:moveTo>
                <a:lnTo>
                  <a:pt x="5165341" y="0"/>
                </a:lnTo>
                <a:lnTo>
                  <a:pt x="5165341" y="6664957"/>
                </a:lnTo>
                <a:lnTo>
                  <a:pt x="0" y="66649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047725" y="2775709"/>
            <a:ext cx="5165341" cy="6664957"/>
          </a:xfrm>
          <a:custGeom>
            <a:avLst/>
            <a:gdLst/>
            <a:ahLst/>
            <a:cxnLst/>
            <a:rect l="l" t="t" r="r" b="b"/>
            <a:pathLst>
              <a:path w="5165341" h="6664957">
                <a:moveTo>
                  <a:pt x="0" y="0"/>
                </a:moveTo>
                <a:lnTo>
                  <a:pt x="5165341" y="0"/>
                </a:lnTo>
                <a:lnTo>
                  <a:pt x="5165341" y="6664957"/>
                </a:lnTo>
                <a:lnTo>
                  <a:pt x="0" y="666495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143000" y="829932"/>
            <a:ext cx="5881764" cy="778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1" i="1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Unsupervised Toolkit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65878" y="1766230"/>
            <a:ext cx="81239" cy="395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256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43000" y="1766230"/>
            <a:ext cx="6269469" cy="395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256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Corealgorithmscategorizedbyprimaryfunction.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86128" y="3367373"/>
            <a:ext cx="1141762" cy="241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8"/>
              </a:lnSpc>
            </a:pPr>
            <a:r>
              <a:rPr lang="en-US" sz="1355" b="1" i="1">
                <a:solidFill>
                  <a:srgbClr val="3A5C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CLUSTERING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272785" y="3367373"/>
            <a:ext cx="1494130" cy="241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8"/>
              </a:lnSpc>
            </a:pPr>
            <a:r>
              <a:rPr lang="en-US" sz="1355" b="1" i="1">
                <a:solidFill>
                  <a:srgbClr val="1E40AF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DIMENSIONALITY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759814" y="3367373"/>
            <a:ext cx="1194111" cy="241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8"/>
              </a:lnSpc>
            </a:pPr>
            <a:r>
              <a:rPr lang="en-US" sz="1355" b="1" i="1">
                <a:solidFill>
                  <a:srgbClr val="A3A3A3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ASSOCIATION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14554" y="3976145"/>
            <a:ext cx="4244673" cy="1408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9"/>
              </a:lnSpc>
            </a:pPr>
            <a:r>
              <a:rPr lang="en-US" sz="2028" b="1" i="1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K-Means:</a:t>
            </a:r>
            <a:r>
              <a:rPr lang="en-US" sz="2028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Centroid distance </a:t>
            </a:r>
            <a:r>
              <a:rPr lang="en-US" sz="2028" b="1" i="1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DBSCAN:</a:t>
            </a:r>
            <a:r>
              <a:rPr lang="en-US" sz="2028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Density spatial regions </a:t>
            </a:r>
            <a:r>
              <a:rPr lang="en-US" sz="2028" b="1" i="1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Hierarchical:</a:t>
            </a:r>
            <a:r>
              <a:rPr lang="en-US" sz="2028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Nested tree structures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101583" y="3823621"/>
            <a:ext cx="4098312" cy="1532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63"/>
              </a:lnSpc>
            </a:pPr>
            <a:r>
              <a:rPr lang="en-US" sz="2028" b="1" i="1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PCA:</a:t>
            </a:r>
            <a:r>
              <a:rPr lang="en-US" sz="2028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Linear variance projection </a:t>
            </a:r>
            <a:r>
              <a:rPr lang="en-US" sz="2028" b="1" i="1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t-SNE:</a:t>
            </a:r>
            <a:r>
              <a:rPr lang="en-US" sz="2028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Non-linear cluster map </a:t>
            </a:r>
            <a:r>
              <a:rPr lang="en-US" sz="2028" b="1" i="1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UMAP:</a:t>
            </a:r>
            <a:r>
              <a:rPr lang="en-US" sz="2028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Manifold structure mapping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588240" y="3985546"/>
            <a:ext cx="3791474" cy="115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2028" b="1" i="1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Apriori:</a:t>
            </a:r>
            <a:r>
              <a:rPr lang="en-US" sz="2028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Frequent itemset rules</a:t>
            </a:r>
          </a:p>
          <a:p>
            <a:pPr algn="l">
              <a:lnSpc>
                <a:spcPts val="2435"/>
              </a:lnSpc>
              <a:spcBef>
                <a:spcPts val="1727"/>
              </a:spcBef>
            </a:pPr>
            <a:r>
              <a:rPr lang="en-US" sz="2028" b="1" i="1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FP-Growth:</a:t>
            </a:r>
            <a:r>
              <a:rPr lang="en-US" sz="2028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Tree-based pattern mining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53689" y="2260597"/>
            <a:ext cx="4208269" cy="922525"/>
          </a:xfrm>
          <a:custGeom>
            <a:avLst/>
            <a:gdLst/>
            <a:ahLst/>
            <a:cxnLst/>
            <a:rect l="l" t="t" r="r" b="b"/>
            <a:pathLst>
              <a:path w="4208269" h="922525">
                <a:moveTo>
                  <a:pt x="0" y="0"/>
                </a:moveTo>
                <a:lnTo>
                  <a:pt x="4208269" y="0"/>
                </a:lnTo>
                <a:lnTo>
                  <a:pt x="4208269" y="922525"/>
                </a:lnTo>
                <a:lnTo>
                  <a:pt x="0" y="9225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268717" y="2260597"/>
            <a:ext cx="3092701" cy="922525"/>
          </a:xfrm>
          <a:custGeom>
            <a:avLst/>
            <a:gdLst/>
            <a:ahLst/>
            <a:cxnLst/>
            <a:rect l="l" t="t" r="r" b="b"/>
            <a:pathLst>
              <a:path w="3092701" h="922525">
                <a:moveTo>
                  <a:pt x="0" y="0"/>
                </a:moveTo>
                <a:lnTo>
                  <a:pt x="3092701" y="0"/>
                </a:lnTo>
                <a:lnTo>
                  <a:pt x="3092701" y="922525"/>
                </a:lnTo>
                <a:lnTo>
                  <a:pt x="0" y="9225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847837" y="3389881"/>
            <a:ext cx="4593841" cy="921001"/>
          </a:xfrm>
          <a:custGeom>
            <a:avLst/>
            <a:gdLst/>
            <a:ahLst/>
            <a:cxnLst/>
            <a:rect l="l" t="t" r="r" b="b"/>
            <a:pathLst>
              <a:path w="4593841" h="921001">
                <a:moveTo>
                  <a:pt x="0" y="0"/>
                </a:moveTo>
                <a:lnTo>
                  <a:pt x="4593841" y="0"/>
                </a:lnTo>
                <a:lnTo>
                  <a:pt x="4593841" y="921001"/>
                </a:lnTo>
                <a:lnTo>
                  <a:pt x="0" y="9210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568177" y="2260597"/>
            <a:ext cx="3565141" cy="922525"/>
          </a:xfrm>
          <a:custGeom>
            <a:avLst/>
            <a:gdLst/>
            <a:ahLst/>
            <a:cxnLst/>
            <a:rect l="l" t="t" r="r" b="b"/>
            <a:pathLst>
              <a:path w="3565141" h="922525">
                <a:moveTo>
                  <a:pt x="0" y="0"/>
                </a:moveTo>
                <a:lnTo>
                  <a:pt x="3565141" y="0"/>
                </a:lnTo>
                <a:lnTo>
                  <a:pt x="3565141" y="922525"/>
                </a:lnTo>
                <a:lnTo>
                  <a:pt x="0" y="9225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74925" y="4860541"/>
            <a:ext cx="16138141" cy="4580125"/>
          </a:xfrm>
          <a:custGeom>
            <a:avLst/>
            <a:gdLst/>
            <a:ahLst/>
            <a:cxnLst/>
            <a:rect l="l" t="t" r="r" b="b"/>
            <a:pathLst>
              <a:path w="16138141" h="4580125">
                <a:moveTo>
                  <a:pt x="0" y="0"/>
                </a:moveTo>
                <a:lnTo>
                  <a:pt x="16138141" y="0"/>
                </a:lnTo>
                <a:lnTo>
                  <a:pt x="16138141" y="4580125"/>
                </a:lnTo>
                <a:lnTo>
                  <a:pt x="0" y="45801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340077" y="2260597"/>
            <a:ext cx="3094225" cy="922525"/>
          </a:xfrm>
          <a:custGeom>
            <a:avLst/>
            <a:gdLst/>
            <a:ahLst/>
            <a:cxnLst/>
            <a:rect l="l" t="t" r="r" b="b"/>
            <a:pathLst>
              <a:path w="3094225" h="922525">
                <a:moveTo>
                  <a:pt x="0" y="0"/>
                </a:moveTo>
                <a:lnTo>
                  <a:pt x="3094225" y="0"/>
                </a:lnTo>
                <a:lnTo>
                  <a:pt x="3094225" y="922525"/>
                </a:lnTo>
                <a:lnTo>
                  <a:pt x="0" y="922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2278380" y="2578608"/>
            <a:ext cx="358140" cy="286512"/>
            <a:chOff x="0" y="0"/>
            <a:chExt cx="477520" cy="38201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77520" cy="382016"/>
            </a:xfrm>
            <a:custGeom>
              <a:avLst/>
              <a:gdLst/>
              <a:ahLst/>
              <a:cxnLst/>
              <a:rect l="l" t="t" r="r" b="b"/>
              <a:pathLst>
                <a:path w="477520" h="382016">
                  <a:moveTo>
                    <a:pt x="0" y="0"/>
                  </a:moveTo>
                  <a:lnTo>
                    <a:pt x="477520" y="0"/>
                  </a:lnTo>
                  <a:lnTo>
                    <a:pt x="477520" y="382016"/>
                  </a:lnTo>
                  <a:lnTo>
                    <a:pt x="0" y="3820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6693408" y="2578608"/>
            <a:ext cx="286512" cy="286512"/>
            <a:chOff x="0" y="0"/>
            <a:chExt cx="382016" cy="38201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82016" cy="382016"/>
            </a:xfrm>
            <a:custGeom>
              <a:avLst/>
              <a:gdLst/>
              <a:ahLst/>
              <a:cxnLst/>
              <a:rect l="l" t="t" r="r" b="b"/>
              <a:pathLst>
                <a:path w="382016" h="382016">
                  <a:moveTo>
                    <a:pt x="0" y="0"/>
                  </a:moveTo>
                  <a:lnTo>
                    <a:pt x="382016" y="0"/>
                  </a:lnTo>
                  <a:lnTo>
                    <a:pt x="382016" y="382016"/>
                  </a:lnTo>
                  <a:lnTo>
                    <a:pt x="0" y="3820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9994392" y="2578608"/>
            <a:ext cx="257556" cy="286512"/>
            <a:chOff x="0" y="0"/>
            <a:chExt cx="343408" cy="38201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43408" cy="382016"/>
            </a:xfrm>
            <a:custGeom>
              <a:avLst/>
              <a:gdLst/>
              <a:ahLst/>
              <a:cxnLst/>
              <a:rect l="l" t="t" r="r" b="b"/>
              <a:pathLst>
                <a:path w="343408" h="382016">
                  <a:moveTo>
                    <a:pt x="0" y="0"/>
                  </a:moveTo>
                  <a:lnTo>
                    <a:pt x="343408" y="0"/>
                  </a:lnTo>
                  <a:lnTo>
                    <a:pt x="343408" y="382016"/>
                  </a:lnTo>
                  <a:lnTo>
                    <a:pt x="0" y="3820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13766292" y="2578608"/>
            <a:ext cx="327660" cy="286512"/>
            <a:chOff x="0" y="0"/>
            <a:chExt cx="436880" cy="38201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36880" cy="382016"/>
            </a:xfrm>
            <a:custGeom>
              <a:avLst/>
              <a:gdLst/>
              <a:ahLst/>
              <a:cxnLst/>
              <a:rect l="l" t="t" r="r" b="b"/>
              <a:pathLst>
                <a:path w="436880" h="382016">
                  <a:moveTo>
                    <a:pt x="0" y="0"/>
                  </a:moveTo>
                  <a:lnTo>
                    <a:pt x="436880" y="0"/>
                  </a:lnTo>
                  <a:lnTo>
                    <a:pt x="436880" y="382016"/>
                  </a:lnTo>
                  <a:lnTo>
                    <a:pt x="0" y="3820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7272528" y="3707892"/>
            <a:ext cx="284988" cy="284988"/>
            <a:chOff x="0" y="0"/>
            <a:chExt cx="379984" cy="37998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79984" cy="379984"/>
            </a:xfrm>
            <a:custGeom>
              <a:avLst/>
              <a:gdLst/>
              <a:ahLst/>
              <a:cxnLst/>
              <a:rect l="l" t="t" r="r" b="b"/>
              <a:pathLst>
                <a:path w="379984" h="379984">
                  <a:moveTo>
                    <a:pt x="0" y="0"/>
                  </a:moveTo>
                  <a:lnTo>
                    <a:pt x="379984" y="0"/>
                  </a:lnTo>
                  <a:lnTo>
                    <a:pt x="379984" y="379984"/>
                  </a:lnTo>
                  <a:lnTo>
                    <a:pt x="0" y="379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5856989" y="829932"/>
            <a:ext cx="6705248" cy="778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1" i="1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Real-World Applications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98394" y="6734613"/>
            <a:ext cx="15796546" cy="427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4"/>
              </a:lnSpc>
            </a:pPr>
            <a:r>
              <a:rPr lang="en-US" sz="2474" b="1" i="1">
                <a:solidFill>
                  <a:srgbClr val="3A5C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Unsupervised learning unlocks insights from vast pools of unannotated data across modern industries.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636263" y="2532917"/>
            <a:ext cx="2831192" cy="351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9"/>
              </a:lnSpc>
            </a:pPr>
            <a:r>
              <a:rPr lang="en-US" sz="2028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Customer Segmentation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979920" y="2532917"/>
            <a:ext cx="1867852" cy="351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9"/>
              </a:lnSpc>
            </a:pPr>
            <a:r>
              <a:rPr lang="en-US" sz="2028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Fraud Detection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252205" y="2532917"/>
            <a:ext cx="2377764" cy="351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9"/>
              </a:lnSpc>
            </a:pPr>
            <a:r>
              <a:rPr lang="en-US" sz="2028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Biological Genomics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095733" y="2532917"/>
            <a:ext cx="1794548" cy="351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9"/>
              </a:lnSpc>
            </a:pPr>
            <a:r>
              <a:rPr lang="en-US" sz="2028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Defect Spotting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558783" y="3661286"/>
            <a:ext cx="3284039" cy="351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2"/>
              </a:lnSpc>
            </a:pPr>
            <a:r>
              <a:rPr lang="en-US" sz="203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Recommendation Discovery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1143000" y="7333488"/>
            <a:ext cx="914400" cy="57912"/>
          </a:xfrm>
          <a:custGeom>
            <a:avLst/>
            <a:gdLst/>
            <a:ahLst/>
            <a:cxnLst/>
            <a:rect l="l" t="t" r="r" b="b"/>
            <a:pathLst>
              <a:path w="914400" h="57912">
                <a:moveTo>
                  <a:pt x="0" y="0"/>
                </a:moveTo>
                <a:lnTo>
                  <a:pt x="914400" y="0"/>
                </a:lnTo>
                <a:lnTo>
                  <a:pt x="914400" y="57912"/>
                </a:lnTo>
                <a:lnTo>
                  <a:pt x="0" y="579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062209" y="3060697"/>
            <a:ext cx="8150857" cy="4165597"/>
          </a:xfrm>
          <a:custGeom>
            <a:avLst/>
            <a:gdLst/>
            <a:ahLst/>
            <a:cxnLst/>
            <a:rect l="l" t="t" r="r" b="b"/>
            <a:pathLst>
              <a:path w="8150857" h="4165597">
                <a:moveTo>
                  <a:pt x="0" y="0"/>
                </a:moveTo>
                <a:lnTo>
                  <a:pt x="8150857" y="0"/>
                </a:lnTo>
                <a:lnTo>
                  <a:pt x="8150857" y="4165597"/>
                </a:lnTo>
                <a:lnTo>
                  <a:pt x="0" y="41655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2987528" y="3979164"/>
            <a:ext cx="199644" cy="228600"/>
            <a:chOff x="0" y="0"/>
            <a:chExt cx="266192" cy="304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66192" cy="304800"/>
            </a:xfrm>
            <a:custGeom>
              <a:avLst/>
              <a:gdLst/>
              <a:ahLst/>
              <a:cxnLst/>
              <a:rect l="l" t="t" r="r" b="b"/>
              <a:pathLst>
                <a:path w="266192" h="304800">
                  <a:moveTo>
                    <a:pt x="0" y="0"/>
                  </a:moveTo>
                  <a:lnTo>
                    <a:pt x="266192" y="0"/>
                  </a:lnTo>
                  <a:lnTo>
                    <a:pt x="266192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3452348" y="5021580"/>
            <a:ext cx="199644" cy="228600"/>
            <a:chOff x="0" y="0"/>
            <a:chExt cx="266192" cy="304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66192" cy="304800"/>
            </a:xfrm>
            <a:custGeom>
              <a:avLst/>
              <a:gdLst/>
              <a:ahLst/>
              <a:cxnLst/>
              <a:rect l="l" t="t" r="r" b="b"/>
              <a:pathLst>
                <a:path w="266192" h="304800">
                  <a:moveTo>
                    <a:pt x="0" y="0"/>
                  </a:moveTo>
                  <a:lnTo>
                    <a:pt x="266192" y="0"/>
                  </a:lnTo>
                  <a:lnTo>
                    <a:pt x="266192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0893552" y="6071616"/>
            <a:ext cx="228600" cy="228600"/>
            <a:chOff x="0" y="0"/>
            <a:chExt cx="304800" cy="304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143000" y="3527450"/>
            <a:ext cx="6370377" cy="3111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97"/>
              </a:lnSpc>
            </a:pPr>
            <a:r>
              <a:rPr lang="en-US" sz="6756" b="1" i="1">
                <a:solidFill>
                  <a:srgbClr val="FFFFFF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Reinforcement Learning (RL)</a:t>
            </a:r>
          </a:p>
          <a:p>
            <a:pPr algn="l">
              <a:lnSpc>
                <a:spcPts val="2709"/>
              </a:lnSpc>
            </a:pPr>
            <a:r>
              <a:rPr lang="en-US" sz="2474">
                <a:solidFill>
                  <a:srgbClr val="A3A3A3"/>
                </a:solidFill>
                <a:latin typeface="Arial"/>
                <a:ea typeface="Arial"/>
                <a:cs typeface="Arial"/>
                <a:sym typeface="Arial"/>
              </a:rPr>
              <a:t>Learning through interaction, trial, and error feedbackto</a:t>
            </a:r>
            <a:r>
              <a:rPr lang="en-US" sz="2474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74">
                <a:solidFill>
                  <a:srgbClr val="A3A3A3"/>
                </a:solidFill>
                <a:latin typeface="Arial"/>
                <a:ea typeface="Arial"/>
                <a:cs typeface="Arial"/>
                <a:sym typeface="Arial"/>
              </a:rPr>
              <a:t>maximize</a:t>
            </a:r>
            <a:r>
              <a:rPr lang="en-US" sz="2474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74">
                <a:solidFill>
                  <a:srgbClr val="A3A3A3"/>
                </a:solidFill>
                <a:latin typeface="Arial"/>
                <a:ea typeface="Arial"/>
                <a:cs typeface="Arial"/>
                <a:sym typeface="Arial"/>
              </a:rPr>
              <a:t>cumulativereward.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002012" y="3904231"/>
            <a:ext cx="919248" cy="351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2"/>
              </a:lnSpc>
            </a:pPr>
            <a:r>
              <a:rPr lang="en-US" sz="2030" b="1" i="1">
                <a:solidFill>
                  <a:srgbClr val="FFFFFF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AGENT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274795" y="3904231"/>
            <a:ext cx="1006050" cy="351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2"/>
              </a:lnSpc>
            </a:pPr>
            <a:r>
              <a:rPr lang="en-US" sz="2030" b="1" i="1">
                <a:solidFill>
                  <a:srgbClr val="76B9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ACTION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002012" y="4947828"/>
            <a:ext cx="1941671" cy="351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9"/>
              </a:lnSpc>
            </a:pPr>
            <a:r>
              <a:rPr lang="en-US" sz="2028" b="1" i="1">
                <a:solidFill>
                  <a:srgbClr val="76B9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ENVIRONMENT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146150" y="4947828"/>
            <a:ext cx="1169051" cy="351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9"/>
              </a:lnSpc>
            </a:pPr>
            <a:r>
              <a:rPr lang="en-US" sz="2028" b="1" i="1">
                <a:solidFill>
                  <a:srgbClr val="FFFFFF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REWARD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295888" y="5995311"/>
            <a:ext cx="4105704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i="1">
                <a:solidFill>
                  <a:srgbClr val="76B9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Continuous Decision Feedback Loop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9497" y="3264913"/>
            <a:ext cx="7899397" cy="6171181"/>
          </a:xfrm>
          <a:custGeom>
            <a:avLst/>
            <a:gdLst/>
            <a:ahLst/>
            <a:cxnLst/>
            <a:rect l="l" t="t" r="r" b="b"/>
            <a:pathLst>
              <a:path w="7899397" h="6171181">
                <a:moveTo>
                  <a:pt x="0" y="0"/>
                </a:moveTo>
                <a:lnTo>
                  <a:pt x="7899397" y="0"/>
                </a:lnTo>
                <a:lnTo>
                  <a:pt x="7899397" y="6171181"/>
                </a:lnTo>
                <a:lnTo>
                  <a:pt x="0" y="61711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309097" y="3264913"/>
            <a:ext cx="7899397" cy="6171181"/>
          </a:xfrm>
          <a:custGeom>
            <a:avLst/>
            <a:gdLst/>
            <a:ahLst/>
            <a:cxnLst/>
            <a:rect l="l" t="t" r="r" b="b"/>
            <a:pathLst>
              <a:path w="7899397" h="6171181">
                <a:moveTo>
                  <a:pt x="0" y="0"/>
                </a:moveTo>
                <a:lnTo>
                  <a:pt x="7899397" y="0"/>
                </a:lnTo>
                <a:lnTo>
                  <a:pt x="7899397" y="6171181"/>
                </a:lnTo>
                <a:lnTo>
                  <a:pt x="0" y="61711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143744" y="7679436"/>
            <a:ext cx="228600" cy="228600"/>
            <a:chOff x="0" y="0"/>
            <a:chExt cx="304800" cy="304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671828" y="6193536"/>
            <a:ext cx="284988" cy="228600"/>
            <a:chOff x="0" y="0"/>
            <a:chExt cx="379984" cy="304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9984" cy="304800"/>
            </a:xfrm>
            <a:custGeom>
              <a:avLst/>
              <a:gdLst/>
              <a:ahLst/>
              <a:cxnLst/>
              <a:rect l="l" t="t" r="r" b="b"/>
              <a:pathLst>
                <a:path w="379984" h="304800">
                  <a:moveTo>
                    <a:pt x="0" y="0"/>
                  </a:moveTo>
                  <a:lnTo>
                    <a:pt x="379984" y="0"/>
                  </a:lnTo>
                  <a:lnTo>
                    <a:pt x="379984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671828" y="6693408"/>
            <a:ext cx="257556" cy="228600"/>
            <a:chOff x="0" y="0"/>
            <a:chExt cx="343408" cy="304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43408" cy="304800"/>
            </a:xfrm>
            <a:custGeom>
              <a:avLst/>
              <a:gdLst/>
              <a:ahLst/>
              <a:cxnLst/>
              <a:rect l="l" t="t" r="r" b="b"/>
              <a:pathLst>
                <a:path w="343408" h="304800">
                  <a:moveTo>
                    <a:pt x="0" y="0"/>
                  </a:moveTo>
                  <a:lnTo>
                    <a:pt x="343408" y="0"/>
                  </a:lnTo>
                  <a:lnTo>
                    <a:pt x="343408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671828" y="7193280"/>
            <a:ext cx="170688" cy="228600"/>
            <a:chOff x="0" y="0"/>
            <a:chExt cx="227584" cy="304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7584" cy="304800"/>
            </a:xfrm>
            <a:custGeom>
              <a:avLst/>
              <a:gdLst/>
              <a:ahLst/>
              <a:cxnLst/>
              <a:rect l="l" t="t" r="r" b="b"/>
              <a:pathLst>
                <a:path w="227584" h="304800">
                  <a:moveTo>
                    <a:pt x="0" y="0"/>
                  </a:moveTo>
                  <a:lnTo>
                    <a:pt x="227584" y="0"/>
                  </a:lnTo>
                  <a:lnTo>
                    <a:pt x="227584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671828" y="7693152"/>
            <a:ext cx="228600" cy="228600"/>
            <a:chOff x="0" y="0"/>
            <a:chExt cx="304800" cy="304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1143000" y="884311"/>
            <a:ext cx="9200388" cy="1141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2"/>
              </a:lnSpc>
            </a:pPr>
            <a:r>
              <a:rPr lang="en-US" sz="1572" b="1" i="1">
                <a:solidFill>
                  <a:srgbClr val="0F172A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FOUNDATIONAL CONCEPT</a:t>
            </a:r>
          </a:p>
          <a:p>
            <a:pPr algn="l">
              <a:lnSpc>
                <a:spcPts val="6219"/>
              </a:lnSpc>
            </a:pPr>
            <a:r>
              <a:rPr lang="en-US" sz="4500" b="1" i="1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Learning Through Trial &amp; Reward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93406" y="2252005"/>
            <a:ext cx="81239" cy="395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256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3000" y="2252005"/>
            <a:ext cx="12483998" cy="395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256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Anagentlearnstomakeoptimaldecisionsbytakingactionsinanenvironment to achieve a goal.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843154" y="4839300"/>
            <a:ext cx="1756391" cy="241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8"/>
              </a:lnSpc>
            </a:pPr>
            <a:r>
              <a:rPr lang="en-US" sz="1355" b="1" i="1">
                <a:solidFill>
                  <a:srgbClr val="3A5C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INTUITIVE ANALOGY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073640" y="4617691"/>
            <a:ext cx="1525219" cy="241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8"/>
              </a:lnSpc>
            </a:pPr>
            <a:r>
              <a:rPr lang="en-US" sz="1355" b="1" i="1">
                <a:solidFill>
                  <a:srgbClr val="FFFFFF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KEY DISTINCTION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71828" y="5432650"/>
            <a:ext cx="3880561" cy="471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1" i="1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Learning a Video Game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902066" y="5163407"/>
            <a:ext cx="6936257" cy="1858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3"/>
              </a:lnSpc>
            </a:pPr>
            <a:r>
              <a:rPr lang="en-US" sz="2700" b="1" i="1">
                <a:solidFill>
                  <a:srgbClr val="FFFFFF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No Explicit Teacher</a:t>
            </a:r>
          </a:p>
          <a:p>
            <a:pPr algn="l">
              <a:lnSpc>
                <a:spcPts val="2999"/>
              </a:lnSpc>
            </a:pPr>
            <a:r>
              <a:rPr lang="en-US" sz="2028">
                <a:solidFill>
                  <a:srgbClr val="A3A3A3"/>
                </a:solidFill>
                <a:latin typeface="Arial"/>
                <a:ea typeface="Arial"/>
                <a:cs typeface="Arial"/>
                <a:sym typeface="Arial"/>
              </a:rPr>
              <a:t>Unlike Supervised Learning, no supervisor provides correct step-by-step labels. The agent evaluates its own choices over time.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957454" y="6115212"/>
            <a:ext cx="3195571" cy="351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9"/>
              </a:lnSpc>
            </a:pPr>
            <a:r>
              <a:rPr lang="en-US" sz="2028" b="1" i="1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Try a new controller input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929127" y="6615332"/>
            <a:ext cx="3921433" cy="351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9"/>
              </a:lnSpc>
            </a:pPr>
            <a:r>
              <a:rPr lang="en-US" sz="2028" b="1" i="1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Observe score change or crash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843154" y="7115585"/>
            <a:ext cx="5650268" cy="351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9"/>
              </a:lnSpc>
            </a:pPr>
            <a:r>
              <a:rPr lang="en-US" sz="2028" b="1" i="1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Gain points (+Reward) or lose lives (-Penalty)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900428" y="7615714"/>
            <a:ext cx="3949541" cy="351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9"/>
              </a:lnSpc>
            </a:pPr>
            <a:r>
              <a:rPr lang="en-US" sz="2028" b="1" i="1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Refine strategy for next attempt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487911" y="7602874"/>
            <a:ext cx="5024399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i="1">
                <a:solidFill>
                  <a:srgbClr val="76B9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Learns directly from outcome consequences.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4925" y="3825745"/>
            <a:ext cx="4281421" cy="1393441"/>
          </a:xfrm>
          <a:custGeom>
            <a:avLst/>
            <a:gdLst/>
            <a:ahLst/>
            <a:cxnLst/>
            <a:rect l="l" t="t" r="r" b="b"/>
            <a:pathLst>
              <a:path w="4281421" h="1393441">
                <a:moveTo>
                  <a:pt x="0" y="0"/>
                </a:moveTo>
                <a:lnTo>
                  <a:pt x="4281421" y="0"/>
                </a:lnTo>
                <a:lnTo>
                  <a:pt x="4281421" y="1393441"/>
                </a:lnTo>
                <a:lnTo>
                  <a:pt x="0" y="13934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74925" y="5311645"/>
            <a:ext cx="4281421" cy="1393441"/>
          </a:xfrm>
          <a:custGeom>
            <a:avLst/>
            <a:gdLst/>
            <a:ahLst/>
            <a:cxnLst/>
            <a:rect l="l" t="t" r="r" b="b"/>
            <a:pathLst>
              <a:path w="4281421" h="1393441">
                <a:moveTo>
                  <a:pt x="0" y="0"/>
                </a:moveTo>
                <a:lnTo>
                  <a:pt x="4281421" y="0"/>
                </a:lnTo>
                <a:lnTo>
                  <a:pt x="4281421" y="1393441"/>
                </a:lnTo>
                <a:lnTo>
                  <a:pt x="0" y="13934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74925" y="6797545"/>
            <a:ext cx="8653777" cy="1393441"/>
          </a:xfrm>
          <a:custGeom>
            <a:avLst/>
            <a:gdLst/>
            <a:ahLst/>
            <a:cxnLst/>
            <a:rect l="l" t="t" r="r" b="b"/>
            <a:pathLst>
              <a:path w="8653777" h="1393441">
                <a:moveTo>
                  <a:pt x="0" y="0"/>
                </a:moveTo>
                <a:lnTo>
                  <a:pt x="8653777" y="0"/>
                </a:lnTo>
                <a:lnTo>
                  <a:pt x="8653777" y="1393441"/>
                </a:lnTo>
                <a:lnTo>
                  <a:pt x="0" y="13934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448805" y="3825745"/>
            <a:ext cx="4279897" cy="1393441"/>
          </a:xfrm>
          <a:custGeom>
            <a:avLst/>
            <a:gdLst/>
            <a:ahLst/>
            <a:cxnLst/>
            <a:rect l="l" t="t" r="r" b="b"/>
            <a:pathLst>
              <a:path w="4279897" h="1393441">
                <a:moveTo>
                  <a:pt x="0" y="0"/>
                </a:moveTo>
                <a:lnTo>
                  <a:pt x="4279897" y="0"/>
                </a:lnTo>
                <a:lnTo>
                  <a:pt x="4279897" y="1393441"/>
                </a:lnTo>
                <a:lnTo>
                  <a:pt x="0" y="13934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448805" y="5311645"/>
            <a:ext cx="4279897" cy="1393441"/>
          </a:xfrm>
          <a:custGeom>
            <a:avLst/>
            <a:gdLst/>
            <a:ahLst/>
            <a:cxnLst/>
            <a:rect l="l" t="t" r="r" b="b"/>
            <a:pathLst>
              <a:path w="4279897" h="1393441">
                <a:moveTo>
                  <a:pt x="0" y="0"/>
                </a:moveTo>
                <a:lnTo>
                  <a:pt x="4279897" y="0"/>
                </a:lnTo>
                <a:lnTo>
                  <a:pt x="4279897" y="1393441"/>
                </a:lnTo>
                <a:lnTo>
                  <a:pt x="0" y="13934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049761" y="3860797"/>
            <a:ext cx="7163305" cy="4293613"/>
          </a:xfrm>
          <a:custGeom>
            <a:avLst/>
            <a:gdLst/>
            <a:ahLst/>
            <a:cxnLst/>
            <a:rect l="l" t="t" r="r" b="b"/>
            <a:pathLst>
              <a:path w="7163305" h="4293613">
                <a:moveTo>
                  <a:pt x="0" y="0"/>
                </a:moveTo>
                <a:lnTo>
                  <a:pt x="7163305" y="0"/>
                </a:lnTo>
                <a:lnTo>
                  <a:pt x="7163305" y="4293613"/>
                </a:lnTo>
                <a:lnTo>
                  <a:pt x="0" y="429361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143000" y="884311"/>
            <a:ext cx="6692617" cy="1141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2"/>
              </a:lnSpc>
            </a:pPr>
            <a:r>
              <a:rPr lang="en-US" sz="1572" b="1" i="1" spc="1">
                <a:solidFill>
                  <a:srgbClr val="0F172A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THE CORE ENGINE</a:t>
            </a:r>
          </a:p>
          <a:p>
            <a:pPr algn="l">
              <a:lnSpc>
                <a:spcPts val="6219"/>
              </a:lnSpc>
            </a:pPr>
            <a:r>
              <a:rPr lang="en-US" sz="4500" b="1" i="1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The RL Interaction Loop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761850" y="4453347"/>
            <a:ext cx="2346589" cy="241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8"/>
              </a:lnSpc>
            </a:pPr>
            <a:r>
              <a:rPr lang="en-US" sz="1355" b="1" i="1">
                <a:solidFill>
                  <a:srgbClr val="A3A3A3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EXAMPLE: ROBOT IN MAZE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43228" y="4154710"/>
            <a:ext cx="744245" cy="351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9"/>
              </a:lnSpc>
            </a:pPr>
            <a:r>
              <a:rPr lang="en-US" sz="2028" b="1" i="1">
                <a:solidFill>
                  <a:srgbClr val="0F172A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Agent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13255" y="4539425"/>
            <a:ext cx="60931" cy="30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8"/>
              </a:lnSpc>
            </a:pPr>
            <a:r>
              <a:rPr lang="en-US" sz="1691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43228" y="5640867"/>
            <a:ext cx="1063704" cy="351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9"/>
              </a:lnSpc>
            </a:pPr>
            <a:r>
              <a:rPr lang="en-US" sz="2028" b="1" i="1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State (S)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157936" y="6025325"/>
            <a:ext cx="60931" cy="30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8"/>
              </a:lnSpc>
            </a:pPr>
            <a:r>
              <a:rPr lang="en-US" sz="1691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43228" y="7126767"/>
            <a:ext cx="1384202" cy="351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9"/>
              </a:lnSpc>
            </a:pPr>
            <a:r>
              <a:rPr lang="en-US" sz="2028" b="1" i="1">
                <a:solidFill>
                  <a:srgbClr val="3A5C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Reward (R)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384631" y="7511605"/>
            <a:ext cx="60931" cy="30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8"/>
              </a:lnSpc>
            </a:pPr>
            <a:r>
              <a:rPr lang="en-US" sz="1691">
                <a:solidFill>
                  <a:srgbClr val="3A5C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816851" y="5640867"/>
            <a:ext cx="1253900" cy="351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9"/>
              </a:lnSpc>
            </a:pPr>
            <a:r>
              <a:rPr lang="en-US" sz="2028" b="1" i="1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Action (A)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947934" y="6025325"/>
            <a:ext cx="60931" cy="30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8"/>
              </a:lnSpc>
            </a:pPr>
            <a:r>
              <a:rPr lang="en-US" sz="1691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816851" y="4154710"/>
            <a:ext cx="1600152" cy="351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9"/>
              </a:lnSpc>
            </a:pPr>
            <a:r>
              <a:rPr lang="en-US" sz="2028" b="1" i="1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Environment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186888" y="4539425"/>
            <a:ext cx="60931" cy="30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8"/>
              </a:lnSpc>
            </a:pPr>
            <a:r>
              <a:rPr lang="en-US" sz="1691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43228" y="4539425"/>
            <a:ext cx="2966409" cy="30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8"/>
              </a:lnSpc>
            </a:pPr>
            <a:r>
              <a:rPr lang="en-US" sz="1691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Thelearner or decision-maker.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43228" y="6025325"/>
            <a:ext cx="3175064" cy="30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8"/>
              </a:lnSpc>
            </a:pPr>
            <a:r>
              <a:rPr lang="en-US" sz="1691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Currentsituation of environment.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43228" y="7511605"/>
            <a:ext cx="4283250" cy="30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8"/>
              </a:lnSpc>
            </a:pPr>
            <a:r>
              <a:rPr lang="en-US" sz="1691">
                <a:solidFill>
                  <a:srgbClr val="3A5C00"/>
                </a:solidFill>
                <a:latin typeface="Arial"/>
                <a:ea typeface="Arial"/>
                <a:cs typeface="Arial"/>
                <a:sym typeface="Arial"/>
              </a:rPr>
              <a:t>Feedbacksignal evaluating outcome quality.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816851" y="6025325"/>
            <a:ext cx="2556758" cy="30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8"/>
              </a:lnSpc>
            </a:pPr>
            <a:r>
              <a:rPr lang="en-US" sz="1691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Adecisiontaken by agent.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816851" y="4539425"/>
            <a:ext cx="2749639" cy="30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8"/>
              </a:lnSpc>
            </a:pPr>
            <a:r>
              <a:rPr lang="en-US" sz="1691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Theworldwhereagent acts.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804903" y="6123965"/>
            <a:ext cx="1890789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i="1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Action:</a:t>
            </a:r>
            <a:r>
              <a:rPr lang="en-US" sz="18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Move Left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804903" y="5180990"/>
            <a:ext cx="4036752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i="1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State:</a:t>
            </a:r>
            <a:r>
              <a:rPr lang="en-US" sz="18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Robot at intersection (X=3, Y=2)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804903" y="7067064"/>
            <a:ext cx="4049506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i="1">
                <a:solidFill>
                  <a:srgbClr val="3A5C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Reward:</a:t>
            </a:r>
            <a:r>
              <a:rPr lang="en-US" sz="1800">
                <a:solidFill>
                  <a:srgbClr val="3A5C00"/>
                </a:solidFill>
                <a:latin typeface="Arial"/>
                <a:ea typeface="Arial"/>
                <a:cs typeface="Arial"/>
                <a:sym typeface="Arial"/>
              </a:rPr>
              <a:t>+10 (Goal) / -5 (Wall collision)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4925" y="2688841"/>
            <a:ext cx="5241541" cy="5438137"/>
          </a:xfrm>
          <a:custGeom>
            <a:avLst/>
            <a:gdLst/>
            <a:ahLst/>
            <a:cxnLst/>
            <a:rect l="l" t="t" r="r" b="b"/>
            <a:pathLst>
              <a:path w="5241541" h="5438137">
                <a:moveTo>
                  <a:pt x="0" y="0"/>
                </a:moveTo>
                <a:lnTo>
                  <a:pt x="5241541" y="0"/>
                </a:lnTo>
                <a:lnTo>
                  <a:pt x="5241541" y="5438137"/>
                </a:lnTo>
                <a:lnTo>
                  <a:pt x="0" y="54381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523225" y="2688841"/>
            <a:ext cx="5241541" cy="5438137"/>
          </a:xfrm>
          <a:custGeom>
            <a:avLst/>
            <a:gdLst/>
            <a:ahLst/>
            <a:cxnLst/>
            <a:rect l="l" t="t" r="r" b="b"/>
            <a:pathLst>
              <a:path w="5241541" h="5438137">
                <a:moveTo>
                  <a:pt x="0" y="0"/>
                </a:moveTo>
                <a:lnTo>
                  <a:pt x="5241541" y="0"/>
                </a:lnTo>
                <a:lnTo>
                  <a:pt x="5241541" y="5438137"/>
                </a:lnTo>
                <a:lnTo>
                  <a:pt x="0" y="54381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43000" y="8516112"/>
            <a:ext cx="16002000" cy="856488"/>
          </a:xfrm>
          <a:custGeom>
            <a:avLst/>
            <a:gdLst/>
            <a:ahLst/>
            <a:cxnLst/>
            <a:rect l="l" t="t" r="r" b="b"/>
            <a:pathLst>
              <a:path w="16002000" h="856488">
                <a:moveTo>
                  <a:pt x="0" y="0"/>
                </a:moveTo>
                <a:lnTo>
                  <a:pt x="16002000" y="0"/>
                </a:lnTo>
                <a:lnTo>
                  <a:pt x="16002000" y="856488"/>
                </a:lnTo>
                <a:lnTo>
                  <a:pt x="0" y="8564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1971525" y="2688841"/>
            <a:ext cx="5241541" cy="5438137"/>
          </a:xfrm>
          <a:custGeom>
            <a:avLst/>
            <a:gdLst/>
            <a:ahLst/>
            <a:cxnLst/>
            <a:rect l="l" t="t" r="r" b="b"/>
            <a:pathLst>
              <a:path w="5241541" h="5438137">
                <a:moveTo>
                  <a:pt x="0" y="0"/>
                </a:moveTo>
                <a:lnTo>
                  <a:pt x="5241541" y="0"/>
                </a:lnTo>
                <a:lnTo>
                  <a:pt x="5241541" y="5438137"/>
                </a:lnTo>
                <a:lnTo>
                  <a:pt x="0" y="54381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143000" y="884311"/>
            <a:ext cx="8939232" cy="1141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2"/>
              </a:lnSpc>
            </a:pPr>
            <a:r>
              <a:rPr lang="en-US" sz="1572" b="1" i="1">
                <a:solidFill>
                  <a:srgbClr val="0F172A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PROGRESSION &amp; ADAPTATION</a:t>
            </a:r>
          </a:p>
          <a:p>
            <a:pPr algn="l">
              <a:lnSpc>
                <a:spcPts val="6219"/>
              </a:lnSpc>
            </a:pPr>
            <a:r>
              <a:rPr lang="en-US" sz="4500" b="1" i="1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From Chaos to Optimal Strategy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14554" y="4723790"/>
            <a:ext cx="3871122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Random actions &amp; frequent mistakes.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063483" y="4761890"/>
            <a:ext cx="4104523" cy="562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Identifies rewarding patterns &amp; reduces errors.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481571" y="8753189"/>
            <a:ext cx="7473963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Observe State </a:t>
            </a:r>
            <a:r>
              <a:rPr lang="en-US" sz="1800">
                <a:solidFill>
                  <a:srgbClr val="76B9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Choose Action </a:t>
            </a:r>
            <a:r>
              <a:rPr lang="en-US" sz="1800">
                <a:solidFill>
                  <a:srgbClr val="76B9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Receive Reward </a:t>
            </a:r>
            <a:r>
              <a:rPr lang="en-US" sz="1800">
                <a:solidFill>
                  <a:srgbClr val="76B9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Update Strategy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512040" y="4761890"/>
            <a:ext cx="3453289" cy="562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Mastered policy &amp; highly efficient execution.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86128" y="7254211"/>
            <a:ext cx="1349216" cy="241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8"/>
              </a:lnSpc>
            </a:pPr>
            <a:r>
              <a:rPr lang="en-US" sz="1355" b="1" i="1">
                <a:solidFill>
                  <a:srgbClr val="991B1B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LOW REWARDS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234685" y="7254211"/>
            <a:ext cx="1773431" cy="241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8"/>
              </a:lnSpc>
            </a:pPr>
            <a:r>
              <a:rPr lang="en-US" sz="1355" b="1" i="1">
                <a:solidFill>
                  <a:srgbClr val="854D0E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GROWING RETURNS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683366" y="7225503"/>
            <a:ext cx="1606020" cy="241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8"/>
              </a:lnSpc>
            </a:pPr>
            <a:r>
              <a:rPr lang="en-US" sz="1355" b="1" i="1">
                <a:solidFill>
                  <a:srgbClr val="3A5C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OPTIMAL REWARD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94075" y="3385680"/>
            <a:ext cx="129816" cy="327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3"/>
              </a:lnSpc>
            </a:pPr>
            <a:r>
              <a:rPr lang="en-US" sz="1802" b="1" i="1">
                <a:solidFill>
                  <a:srgbClr val="991B1B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342889" y="3385680"/>
            <a:ext cx="129816" cy="327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3"/>
              </a:lnSpc>
            </a:pPr>
            <a:r>
              <a:rPr lang="en-US" sz="1802" b="1" i="1">
                <a:solidFill>
                  <a:srgbClr val="854D0E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791570" y="3385680"/>
            <a:ext cx="129816" cy="327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3"/>
              </a:lnSpc>
            </a:pPr>
            <a:r>
              <a:rPr lang="en-US" sz="1802" b="1" i="1">
                <a:solidFill>
                  <a:srgbClr val="3A5C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14554" y="4098627"/>
            <a:ext cx="1743618" cy="427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0"/>
              </a:lnSpc>
            </a:pPr>
            <a:r>
              <a:rPr lang="en-US" sz="2472" b="1" i="1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Early Stage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063483" y="4098627"/>
            <a:ext cx="1512408" cy="427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0"/>
              </a:lnSpc>
            </a:pPr>
            <a:r>
              <a:rPr lang="en-US" sz="2472" b="1" i="1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Mid Stage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512040" y="4098627"/>
            <a:ext cx="1619364" cy="427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0"/>
              </a:lnSpc>
            </a:pPr>
            <a:r>
              <a:rPr lang="en-US" sz="2472" b="1" i="1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Late Stage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9497" y="2693413"/>
            <a:ext cx="7785097" cy="6742681"/>
          </a:xfrm>
          <a:custGeom>
            <a:avLst/>
            <a:gdLst/>
            <a:ahLst/>
            <a:cxnLst/>
            <a:rect l="l" t="t" r="r" b="b"/>
            <a:pathLst>
              <a:path w="7785097" h="6742681">
                <a:moveTo>
                  <a:pt x="0" y="0"/>
                </a:moveTo>
                <a:lnTo>
                  <a:pt x="7785097" y="0"/>
                </a:lnTo>
                <a:lnTo>
                  <a:pt x="7785097" y="6742681"/>
                </a:lnTo>
                <a:lnTo>
                  <a:pt x="0" y="67426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423397" y="2693413"/>
            <a:ext cx="7785097" cy="6742681"/>
          </a:xfrm>
          <a:custGeom>
            <a:avLst/>
            <a:gdLst/>
            <a:ahLst/>
            <a:cxnLst/>
            <a:rect l="l" t="t" r="r" b="b"/>
            <a:pathLst>
              <a:path w="7785097" h="6742681">
                <a:moveTo>
                  <a:pt x="0" y="0"/>
                </a:moveTo>
                <a:lnTo>
                  <a:pt x="7785097" y="0"/>
                </a:lnTo>
                <a:lnTo>
                  <a:pt x="7785097" y="6742681"/>
                </a:lnTo>
                <a:lnTo>
                  <a:pt x="0" y="67426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143000" y="874786"/>
            <a:ext cx="2666190" cy="283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1572" b="1" i="1">
                <a:solidFill>
                  <a:srgbClr val="0F172A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THE CENTRAL TRADE-OFF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80606" y="1258557"/>
            <a:ext cx="7677188" cy="778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1" i="1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Exploration vs. Exploitation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843154" y="3381727"/>
            <a:ext cx="1247508" cy="241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8"/>
              </a:lnSpc>
            </a:pPr>
            <a:r>
              <a:rPr lang="en-US" sz="1355" b="1" i="1">
                <a:solidFill>
                  <a:srgbClr val="1E40AF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EXPLORATION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187940" y="3381727"/>
            <a:ext cx="1263320" cy="241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8"/>
              </a:lnSpc>
            </a:pPr>
            <a:r>
              <a:rPr lang="en-US" sz="1355" b="1" i="1">
                <a:solidFill>
                  <a:srgbClr val="3A5C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EXPLOITATION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71828" y="4175360"/>
            <a:ext cx="3516430" cy="505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9"/>
              </a:lnSpc>
            </a:pPr>
            <a:r>
              <a:rPr lang="en-US" sz="2928" b="1" i="1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Try Something New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938501" y="4838090"/>
            <a:ext cx="64818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016366" y="4203935"/>
            <a:ext cx="2983516" cy="505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9"/>
              </a:lnSpc>
            </a:pPr>
            <a:r>
              <a:rPr lang="en-US" sz="2928" b="1" i="1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Use What Works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080547" y="4866122"/>
            <a:ext cx="64913" cy="327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3"/>
              </a:lnSpc>
            </a:pPr>
            <a:r>
              <a:rPr lang="en-US" sz="1802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71828" y="4838090"/>
            <a:ext cx="6642373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Experimentswithunfamiliaractionsto discover better strategies.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016366" y="4866122"/>
            <a:ext cx="6845484" cy="327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3"/>
              </a:lnSpc>
            </a:pPr>
            <a:r>
              <a:rPr lang="en-US" sz="1802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Leveragesexistingknowledgeto secure guaranteed high rewards.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4925" y="2775709"/>
            <a:ext cx="7794241" cy="6664957"/>
          </a:xfrm>
          <a:custGeom>
            <a:avLst/>
            <a:gdLst/>
            <a:ahLst/>
            <a:cxnLst/>
            <a:rect l="l" t="t" r="r" b="b"/>
            <a:pathLst>
              <a:path w="7794241" h="6664957">
                <a:moveTo>
                  <a:pt x="0" y="0"/>
                </a:moveTo>
                <a:lnTo>
                  <a:pt x="7794241" y="0"/>
                </a:lnTo>
                <a:lnTo>
                  <a:pt x="7794241" y="6664957"/>
                </a:lnTo>
                <a:lnTo>
                  <a:pt x="0" y="66649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418825" y="2775709"/>
            <a:ext cx="7794241" cy="6664957"/>
          </a:xfrm>
          <a:custGeom>
            <a:avLst/>
            <a:gdLst/>
            <a:ahLst/>
            <a:cxnLst/>
            <a:rect l="l" t="t" r="r" b="b"/>
            <a:pathLst>
              <a:path w="7794241" h="6664957">
                <a:moveTo>
                  <a:pt x="0" y="0"/>
                </a:moveTo>
                <a:lnTo>
                  <a:pt x="7794241" y="0"/>
                </a:lnTo>
                <a:lnTo>
                  <a:pt x="7794241" y="6664957"/>
                </a:lnTo>
                <a:lnTo>
                  <a:pt x="0" y="66649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728216" y="4407408"/>
            <a:ext cx="6487668" cy="515112"/>
            <a:chOff x="0" y="0"/>
            <a:chExt cx="8650224" cy="68681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650224" cy="686816"/>
            </a:xfrm>
            <a:custGeom>
              <a:avLst/>
              <a:gdLst/>
              <a:ahLst/>
              <a:cxnLst/>
              <a:rect l="l" t="t" r="r" b="b"/>
              <a:pathLst>
                <a:path w="8650224" h="686816">
                  <a:moveTo>
                    <a:pt x="0" y="0"/>
                  </a:moveTo>
                  <a:lnTo>
                    <a:pt x="8650224" y="0"/>
                  </a:lnTo>
                  <a:lnTo>
                    <a:pt x="8650224" y="686816"/>
                  </a:lnTo>
                  <a:lnTo>
                    <a:pt x="0" y="6868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0072116" y="4128516"/>
            <a:ext cx="6487668" cy="515112"/>
            <a:chOff x="0" y="0"/>
            <a:chExt cx="8650224" cy="68681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650224" cy="686816"/>
            </a:xfrm>
            <a:custGeom>
              <a:avLst/>
              <a:gdLst/>
              <a:ahLst/>
              <a:cxnLst/>
              <a:rect l="l" t="t" r="r" b="b"/>
              <a:pathLst>
                <a:path w="8650224" h="686816">
                  <a:moveTo>
                    <a:pt x="0" y="0"/>
                  </a:moveTo>
                  <a:lnTo>
                    <a:pt x="8650224" y="0"/>
                  </a:lnTo>
                  <a:lnTo>
                    <a:pt x="8650224" y="686816"/>
                  </a:lnTo>
                  <a:lnTo>
                    <a:pt x="0" y="6868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6253610" y="829932"/>
            <a:ext cx="5895175" cy="778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1" i="1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Core Building Blocks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294474" y="1766230"/>
            <a:ext cx="81239" cy="395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256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20583" y="1766230"/>
            <a:ext cx="4942103" cy="395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256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Howtheagentdecidesandevaluates.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28854" y="5135613"/>
            <a:ext cx="1900647" cy="558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8"/>
              </a:lnSpc>
            </a:pPr>
            <a:r>
              <a:rPr lang="en-US" sz="3156" b="1" i="1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Policy (π)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186016" y="5855237"/>
            <a:ext cx="73028" cy="351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9"/>
              </a:lnSpc>
            </a:pPr>
            <a:r>
              <a:rPr lang="en-US" sz="2028" b="1" i="1">
                <a:solidFill>
                  <a:srgbClr val="3A5C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28854" y="5855237"/>
            <a:ext cx="2756325" cy="351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9"/>
              </a:lnSpc>
            </a:pPr>
            <a:r>
              <a:rPr lang="en-US" sz="2028" b="1" i="1">
                <a:solidFill>
                  <a:srgbClr val="3A5C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The</a:t>
            </a:r>
            <a:r>
              <a:rPr lang="en-US" sz="2028" b="1" i="1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 </a:t>
            </a:r>
            <a:r>
              <a:rPr lang="en-US" sz="2028" b="1" i="1">
                <a:solidFill>
                  <a:srgbClr val="3A5C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Decision</a:t>
            </a:r>
            <a:r>
              <a:rPr lang="en-US" sz="2028" b="1" i="1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 </a:t>
            </a:r>
            <a:r>
              <a:rPr lang="en-US" sz="2028" b="1" i="1">
                <a:solidFill>
                  <a:srgbClr val="3A5C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Strategy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073640" y="5576602"/>
            <a:ext cx="6515310" cy="84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9"/>
              </a:lnSpc>
            </a:pPr>
            <a:r>
              <a:rPr lang="en-US" sz="2028" b="1" i="1">
                <a:solidFill>
                  <a:srgbClr val="1E40AF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Long-Term Expected Return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Estimates total cumulative reward starting from a specific state.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28854" y="6373606"/>
            <a:ext cx="6062148" cy="327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3"/>
              </a:lnSpc>
            </a:pPr>
            <a:r>
              <a:rPr lang="en-US" sz="1802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Maps current environment states to the best action to take.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073640" y="4856436"/>
            <a:ext cx="3993204" cy="558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21"/>
              </a:lnSpc>
            </a:pPr>
            <a:r>
              <a:rPr lang="en-US" sz="3158" b="1" i="1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Value Function (V/Q)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971799" y="7254307"/>
            <a:ext cx="5014570" cy="30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8"/>
              </a:lnSpc>
            </a:pPr>
            <a:r>
              <a:rPr lang="en-US" sz="1691" b="1" i="1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Question answered:</a:t>
            </a:r>
            <a:r>
              <a:rPr lang="en-US" sz="1691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"What should I do right now?"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316594" y="7261669"/>
            <a:ext cx="5834282" cy="30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8"/>
              </a:lnSpc>
            </a:pPr>
            <a:r>
              <a:rPr lang="en-US" sz="1691" b="1" i="1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Question answered:</a:t>
            </a:r>
            <a:r>
              <a:rPr lang="en-US" sz="1691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"How good is this position long-term?"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4925" y="1960369"/>
            <a:ext cx="3965953" cy="1294381"/>
          </a:xfrm>
          <a:custGeom>
            <a:avLst/>
            <a:gdLst/>
            <a:ahLst/>
            <a:cxnLst/>
            <a:rect l="l" t="t" r="r" b="b"/>
            <a:pathLst>
              <a:path w="3965953" h="1294381">
                <a:moveTo>
                  <a:pt x="0" y="0"/>
                </a:moveTo>
                <a:lnTo>
                  <a:pt x="3965953" y="0"/>
                </a:lnTo>
                <a:lnTo>
                  <a:pt x="3965953" y="1294381"/>
                </a:lnTo>
                <a:lnTo>
                  <a:pt x="0" y="12943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133337" y="1960369"/>
            <a:ext cx="3964429" cy="1294381"/>
          </a:xfrm>
          <a:custGeom>
            <a:avLst/>
            <a:gdLst/>
            <a:ahLst/>
            <a:cxnLst/>
            <a:rect l="l" t="t" r="r" b="b"/>
            <a:pathLst>
              <a:path w="3964429" h="1294381">
                <a:moveTo>
                  <a:pt x="0" y="0"/>
                </a:moveTo>
                <a:lnTo>
                  <a:pt x="3964429" y="0"/>
                </a:lnTo>
                <a:lnTo>
                  <a:pt x="3964429" y="1294381"/>
                </a:lnTo>
                <a:lnTo>
                  <a:pt x="0" y="12943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190225" y="1960369"/>
            <a:ext cx="3965953" cy="1294381"/>
          </a:xfrm>
          <a:custGeom>
            <a:avLst/>
            <a:gdLst/>
            <a:ahLst/>
            <a:cxnLst/>
            <a:rect l="l" t="t" r="r" b="b"/>
            <a:pathLst>
              <a:path w="3965953" h="1294381">
                <a:moveTo>
                  <a:pt x="0" y="0"/>
                </a:moveTo>
                <a:lnTo>
                  <a:pt x="3965953" y="0"/>
                </a:lnTo>
                <a:lnTo>
                  <a:pt x="3965953" y="1294381"/>
                </a:lnTo>
                <a:lnTo>
                  <a:pt x="0" y="12943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248637" y="1960369"/>
            <a:ext cx="3964429" cy="1294381"/>
          </a:xfrm>
          <a:custGeom>
            <a:avLst/>
            <a:gdLst/>
            <a:ahLst/>
            <a:cxnLst/>
            <a:rect l="l" t="t" r="r" b="b"/>
            <a:pathLst>
              <a:path w="3964429" h="1294381">
                <a:moveTo>
                  <a:pt x="0" y="0"/>
                </a:moveTo>
                <a:lnTo>
                  <a:pt x="3964429" y="0"/>
                </a:lnTo>
                <a:lnTo>
                  <a:pt x="3964429" y="1294381"/>
                </a:lnTo>
                <a:lnTo>
                  <a:pt x="0" y="12943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443228" y="2272284"/>
            <a:ext cx="3229356" cy="284988"/>
            <a:chOff x="0" y="0"/>
            <a:chExt cx="4305808" cy="37998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305808" cy="379984"/>
            </a:xfrm>
            <a:custGeom>
              <a:avLst/>
              <a:gdLst/>
              <a:ahLst/>
              <a:cxnLst/>
              <a:rect l="l" t="t" r="r" b="b"/>
              <a:pathLst>
                <a:path w="4305808" h="379984">
                  <a:moveTo>
                    <a:pt x="0" y="0"/>
                  </a:moveTo>
                  <a:lnTo>
                    <a:pt x="4305808" y="0"/>
                  </a:lnTo>
                  <a:lnTo>
                    <a:pt x="4305808" y="379984"/>
                  </a:lnTo>
                  <a:lnTo>
                    <a:pt x="0" y="379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5500116" y="2272284"/>
            <a:ext cx="3229356" cy="284988"/>
            <a:chOff x="0" y="0"/>
            <a:chExt cx="4305808" cy="37998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305808" cy="379984"/>
            </a:xfrm>
            <a:custGeom>
              <a:avLst/>
              <a:gdLst/>
              <a:ahLst/>
              <a:cxnLst/>
              <a:rect l="l" t="t" r="r" b="b"/>
              <a:pathLst>
                <a:path w="4305808" h="379984">
                  <a:moveTo>
                    <a:pt x="0" y="0"/>
                  </a:moveTo>
                  <a:lnTo>
                    <a:pt x="4305808" y="0"/>
                  </a:lnTo>
                  <a:lnTo>
                    <a:pt x="4305808" y="379984"/>
                  </a:lnTo>
                  <a:lnTo>
                    <a:pt x="0" y="379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9558528" y="2272284"/>
            <a:ext cx="3229356" cy="284988"/>
            <a:chOff x="0" y="0"/>
            <a:chExt cx="4305808" cy="37998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305808" cy="379984"/>
            </a:xfrm>
            <a:custGeom>
              <a:avLst/>
              <a:gdLst/>
              <a:ahLst/>
              <a:cxnLst/>
              <a:rect l="l" t="t" r="r" b="b"/>
              <a:pathLst>
                <a:path w="4305808" h="379984">
                  <a:moveTo>
                    <a:pt x="0" y="0"/>
                  </a:moveTo>
                  <a:lnTo>
                    <a:pt x="4305808" y="0"/>
                  </a:lnTo>
                  <a:lnTo>
                    <a:pt x="4305808" y="379984"/>
                  </a:lnTo>
                  <a:lnTo>
                    <a:pt x="0" y="379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3615416" y="2272284"/>
            <a:ext cx="3229356" cy="284988"/>
            <a:chOff x="0" y="0"/>
            <a:chExt cx="4305808" cy="37998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305808" cy="379984"/>
            </a:xfrm>
            <a:custGeom>
              <a:avLst/>
              <a:gdLst/>
              <a:ahLst/>
              <a:cxnLst/>
              <a:rect l="l" t="t" r="r" b="b"/>
              <a:pathLst>
                <a:path w="4305808" h="379984">
                  <a:moveTo>
                    <a:pt x="0" y="0"/>
                  </a:moveTo>
                  <a:lnTo>
                    <a:pt x="4305808" y="0"/>
                  </a:lnTo>
                  <a:lnTo>
                    <a:pt x="4305808" y="379984"/>
                  </a:lnTo>
                  <a:lnTo>
                    <a:pt x="0" y="379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1095756" y="3619500"/>
            <a:ext cx="16091916" cy="2833116"/>
            <a:chOff x="0" y="0"/>
            <a:chExt cx="21455888" cy="377748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1455887" cy="3777488"/>
            </a:xfrm>
            <a:custGeom>
              <a:avLst/>
              <a:gdLst/>
              <a:ahLst/>
              <a:cxnLst/>
              <a:rect l="l" t="t" r="r" b="b"/>
              <a:pathLst>
                <a:path w="21455887" h="3777488">
                  <a:moveTo>
                    <a:pt x="21398992" y="32512"/>
                  </a:moveTo>
                  <a:lnTo>
                    <a:pt x="21398992" y="3690112"/>
                  </a:lnTo>
                  <a:lnTo>
                    <a:pt x="62992" y="3690112"/>
                  </a:lnTo>
                  <a:lnTo>
                    <a:pt x="62992" y="32512"/>
                  </a:lnTo>
                  <a:close/>
                  <a:moveTo>
                    <a:pt x="0" y="0"/>
                  </a:moveTo>
                  <a:lnTo>
                    <a:pt x="0" y="3777488"/>
                  </a:lnTo>
                  <a:lnTo>
                    <a:pt x="21455887" y="3777488"/>
                  </a:lnTo>
                  <a:lnTo>
                    <a:pt x="21455887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</p:grpSp>
      <p:sp>
        <p:nvSpPr>
          <p:cNvPr id="16" name="Freeform 16"/>
          <p:cNvSpPr/>
          <p:nvPr/>
        </p:nvSpPr>
        <p:spPr>
          <a:xfrm>
            <a:off x="1074925" y="3575809"/>
            <a:ext cx="16138141" cy="2879341"/>
          </a:xfrm>
          <a:custGeom>
            <a:avLst/>
            <a:gdLst/>
            <a:ahLst/>
            <a:cxnLst/>
            <a:rect l="l" t="t" r="r" b="b"/>
            <a:pathLst>
              <a:path w="16138141" h="2879341">
                <a:moveTo>
                  <a:pt x="0" y="0"/>
                </a:moveTo>
                <a:lnTo>
                  <a:pt x="16138141" y="0"/>
                </a:lnTo>
                <a:lnTo>
                  <a:pt x="16138141" y="2879341"/>
                </a:lnTo>
                <a:lnTo>
                  <a:pt x="0" y="287934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xmlns="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238402" y="3816887"/>
            <a:ext cx="1005897" cy="302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5"/>
              </a:lnSpc>
            </a:pPr>
            <a:r>
              <a:rPr lang="en-US" sz="1704" b="1" i="1">
                <a:solidFill>
                  <a:srgbClr val="FFFFFF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Paradigm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38402" y="4502687"/>
            <a:ext cx="1185577" cy="302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5"/>
              </a:lnSpc>
            </a:pPr>
            <a:r>
              <a:rPr lang="en-US" sz="1704" b="1" i="1">
                <a:solidFill>
                  <a:srgbClr val="3B82F6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Supervised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38402" y="5188744"/>
            <a:ext cx="1455753" cy="302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5"/>
              </a:lnSpc>
            </a:pPr>
            <a:r>
              <a:rPr lang="en-US" sz="1704" b="1" i="1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Unsupervised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38402" y="5874544"/>
            <a:ext cx="1545155" cy="302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5"/>
              </a:lnSpc>
            </a:pPr>
            <a:r>
              <a:rPr lang="en-US" sz="1704" b="1" i="1">
                <a:solidFill>
                  <a:srgbClr val="3A5C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Reinforcement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097398" y="3816887"/>
            <a:ext cx="1037463" cy="302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5"/>
              </a:lnSpc>
            </a:pPr>
            <a:r>
              <a:rPr lang="en-US" sz="1704" b="1" i="1">
                <a:solidFill>
                  <a:srgbClr val="FFFFFF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Data Type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097398" y="4502687"/>
            <a:ext cx="1791272" cy="302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5"/>
              </a:lnSpc>
            </a:pPr>
            <a:r>
              <a:rPr lang="en-US" sz="1704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Labeled examples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097398" y="5188744"/>
            <a:ext cx="1900761" cy="302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5"/>
              </a:lnSpc>
            </a:pPr>
            <a:r>
              <a:rPr lang="en-US" sz="1704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Unlabeled raw data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097398" y="5874544"/>
            <a:ext cx="2427218" cy="302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5"/>
              </a:lnSpc>
            </a:pPr>
            <a:r>
              <a:rPr lang="en-US" sz="1704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Environment interactions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285731" y="5188744"/>
            <a:ext cx="1877578" cy="302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5"/>
              </a:lnSpc>
            </a:pPr>
            <a:r>
              <a:rPr lang="en-US" sz="1704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No feedback signal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285731" y="5874544"/>
            <a:ext cx="2023043" cy="302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5"/>
              </a:lnSpc>
            </a:pPr>
            <a:r>
              <a:rPr lang="en-US" sz="1704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Rewards &amp; penalties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85731" y="3816887"/>
            <a:ext cx="2282409" cy="302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5"/>
              </a:lnSpc>
            </a:pPr>
            <a:r>
              <a:rPr lang="en-US" sz="1704" b="1" i="1">
                <a:solidFill>
                  <a:srgbClr val="FFFFFF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Feedback Mechanism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285731" y="4502687"/>
            <a:ext cx="2466946" cy="302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5"/>
              </a:lnSpc>
            </a:pPr>
            <a:r>
              <a:rPr lang="en-US" sz="1704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Direct ground truth labels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550778" y="3816887"/>
            <a:ext cx="1374305" cy="302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5"/>
              </a:lnSpc>
            </a:pPr>
            <a:r>
              <a:rPr lang="en-US" sz="1704" b="1" i="1">
                <a:solidFill>
                  <a:srgbClr val="FFFFFF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Primary Goal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550778" y="4502687"/>
            <a:ext cx="1987725" cy="302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5"/>
              </a:lnSpc>
            </a:pPr>
            <a:r>
              <a:rPr lang="en-US" sz="1704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Predict target output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550778" y="5188744"/>
            <a:ext cx="2499170" cy="302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5"/>
              </a:lnSpc>
            </a:pPr>
            <a:r>
              <a:rPr lang="en-US" sz="1704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Discover hidden structure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550778" y="5874544"/>
            <a:ext cx="2777738" cy="302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5"/>
              </a:lnSpc>
            </a:pPr>
            <a:r>
              <a:rPr lang="en-US" sz="1704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Maximize cumulative reward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3000" y="835981"/>
            <a:ext cx="10867273" cy="702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8"/>
              </a:lnSpc>
            </a:pPr>
            <a:r>
              <a:rPr lang="en-US" sz="4056" b="1" i="1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Real-World Impact &amp; Paradigm Comparison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000755" y="2631758"/>
            <a:ext cx="2156527" cy="30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8"/>
              </a:lnSpc>
            </a:pPr>
            <a:r>
              <a:rPr lang="en-US" sz="1691" b="1" i="1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Autonomous Driving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244714" y="2631758"/>
            <a:ext cx="1775593" cy="30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8"/>
              </a:lnSpc>
            </a:pPr>
            <a:r>
              <a:rPr lang="en-US" sz="1691" b="1" i="1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Robotics Control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015090" y="2631758"/>
            <a:ext cx="2360590" cy="30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8"/>
              </a:lnSpc>
            </a:pPr>
            <a:r>
              <a:rPr lang="en-US" sz="1691" b="1" i="1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LLM Alignment (RLHF)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4232636" y="2631758"/>
            <a:ext cx="2038388" cy="30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8"/>
              </a:lnSpc>
            </a:pPr>
            <a:r>
              <a:rPr lang="en-US" sz="1691" b="1" i="1">
                <a:solidFill>
                  <a:srgbClr val="171717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Game AI &amp; Strategy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1672</Words>
  <Application>Microsoft Office PowerPoint</Application>
  <PresentationFormat>Personnalisé</PresentationFormat>
  <Paragraphs>433</Paragraphs>
  <Slides>45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45</vt:i4>
      </vt:variant>
    </vt:vector>
  </HeadingPairs>
  <TitlesOfParts>
    <vt:vector size="52" baseType="lpstr">
      <vt:lpstr>Extenda 40 Hecto</vt:lpstr>
      <vt:lpstr>Heading Now 11-18 Bold</vt:lpstr>
      <vt:lpstr>Arial</vt:lpstr>
      <vt:lpstr>Press Start 2P</vt:lpstr>
      <vt:lpstr>Arial Bold Italics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Copie de AI Unlocked - exploring ML &amp;DL &amp; LLM PART1 CME.pdf</dc:title>
  <dc:creator>Administrateur</dc:creator>
  <cp:lastModifiedBy>Administrateur</cp:lastModifiedBy>
  <cp:revision>3</cp:revision>
  <dcterms:created xsi:type="dcterms:W3CDTF">2006-08-16T00:00:00Z</dcterms:created>
  <dcterms:modified xsi:type="dcterms:W3CDTF">2026-09-19T19:56:40Z</dcterms:modified>
  <dc:identifier>DAHVq6iNkF8</dc:identifier>
</cp:coreProperties>
</file>